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1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1"/>
    </p:embeddedFont>
    <p:embeddedFont>
      <p:font typeface="Arimo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alibri (MS) Bold" panose="020B0604020202020204" charset="0"/>
      <p:regular r:id="rId17"/>
    </p:embeddedFon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Poppins" panose="00000500000000000000" pitchFamily="2" charset="0"/>
      <p:regular r:id="rId20"/>
    </p:embeddedFont>
    <p:embeddedFont>
      <p:font typeface="Proxima Nova" panose="020B0604020202020204" charset="0"/>
      <p:regular r:id="rId21"/>
    </p:embeddedFont>
    <p:embeddedFont>
      <p:font typeface="Proxima Nova Bold" panose="020B0604020202020204" charset="0"/>
      <p:regular r:id="rId22"/>
    </p:embeddedFont>
    <p:embeddedFont>
      <p:font typeface="Proxima Nova Italics" panose="020B0604020202020204" charset="0"/>
      <p:regular r:id="rId23"/>
    </p:embeddedFont>
    <p:embeddedFont>
      <p:font typeface="Rajdhani" panose="020B0604020202020204" charset="0"/>
      <p:regular r:id="rId24"/>
    </p:embeddedFont>
    <p:embeddedFont>
      <p:font typeface="Rajdhani Bold" panose="020B0604020202020204" charset="0"/>
      <p:regular r:id="rId25"/>
    </p:embeddedFont>
    <p:embeddedFont>
      <p:font typeface="TT Fors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font" Target="fonts/font15.fntdata"/><Relationship Id="rId26" Type="http://schemas.openxmlformats.org/officeDocument/2006/relationships/font" Target="fonts/font16.fntdata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Relationship Id="rId5" Type="http://schemas.openxmlformats.org/officeDocument/2006/relationships/image" Target="../media/image4.png"/><Relationship Id="rId6" Type="http://schemas.openxmlformats.org/officeDocument/2006/relationships/image" Target="../media/image5.jpeg"/><Relationship Id="rId7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svg"/><Relationship Id="rId7" Type="http://schemas.openxmlformats.org/officeDocument/2006/relationships/image" Target="../media/image12.png"/><Relationship Id="rId8" Type="http://schemas.openxmlformats.org/officeDocument/2006/relationships/image" Target="../media/image13.svg"/><Relationship Id="rId9" Type="http://schemas.openxmlformats.org/officeDocument/2006/relationships/image" Target="../media/image1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svg"/><Relationship Id="rId10" Type="http://schemas.openxmlformats.org/officeDocument/2006/relationships/image" Target="../media/image24.png"/><Relationship Id="rId11" Type="http://schemas.openxmlformats.org/officeDocument/2006/relationships/image" Target="../media/image25.svg"/><Relationship Id="rId12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7.png"/><Relationship Id="rId4" Type="http://schemas.openxmlformats.org/officeDocument/2006/relationships/image" Target="../media/image28.svg"/><Relationship Id="rId5" Type="http://schemas.openxmlformats.org/officeDocument/2006/relationships/image" Target="../media/image29.png"/><Relationship Id="rId6" Type="http://schemas.openxmlformats.org/officeDocument/2006/relationships/image" Target="../media/image30.svg"/><Relationship Id="rId7" Type="http://schemas.openxmlformats.org/officeDocument/2006/relationships/image" Target="../media/image31.png"/><Relationship Id="rId8" Type="http://schemas.openxmlformats.org/officeDocument/2006/relationships/image" Target="../media/image32.svg"/><Relationship Id="rId9" Type="http://schemas.openxmlformats.org/officeDocument/2006/relationships/image" Target="../media/image33.png"/><Relationship Id="rId10" Type="http://schemas.openxmlformats.org/officeDocument/2006/relationships/image" Target="../media/image34.svg"/><Relationship Id="rId11" Type="http://schemas.openxmlformats.org/officeDocument/2006/relationships/image" Target="../media/image35.png"/><Relationship Id="rId12" Type="http://schemas.openxmlformats.org/officeDocument/2006/relationships/image" Target="../media/image36.svg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40.png"/><Relationship Id="rId4" Type="http://schemas.openxmlformats.org/officeDocument/2006/relationships/image" Target="../media/image41.svg"/><Relationship Id="rId5" Type="http://schemas.openxmlformats.org/officeDocument/2006/relationships/image" Target="../media/image4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github.com/ondyari/FaceForensics?utm_source=chatgpt.com" TargetMode="External"/><Relationship Id="rId4" Type="http://schemas.openxmlformats.org/officeDocument/2006/relationships/hyperlink" Target="https://ai.meta.com/datasets/dfdc?utm_source=chatgpt.com" TargetMode="External"/><Relationship Id="rId5" Type="http://schemas.openxmlformats.org/officeDocument/2006/relationships/hyperlink" Target="https://cse.buffalo.edu/~siweilyu/celeb-deepfakeforensics.html?utm_source=chatgpt.com" TargetMode="External"/><Relationship Id="rId6" Type="http://schemas.openxmlformats.org/officeDocument/2006/relationships/hyperlink" Target="https://www.asvspoof.org" TargetMode="External"/><Relationship Id="rId7" Type="http://schemas.openxmlformats.org/officeDocument/2006/relationships/hyperlink" Target="https://phishtank.org" TargetMode="External"/><Relationship Id="rId8" Type="http://schemas.openxmlformats.org/officeDocument/2006/relationships/hyperlink" Target="https://safebrowsing.google.com" TargetMode="External"/><Relationship Id="rId9" Type="http://schemas.openxmlformats.org/officeDocument/2006/relationships/hyperlink" Target="https://www.virustotal.com" TargetMode="External"/><Relationship Id="rId10" Type="http://schemas.openxmlformats.org/officeDocument/2006/relationships/hyperlink" Target="https://ai.google.dev" TargetMode="External"/><Relationship Id="rId11" Type="http://schemas.openxmlformats.org/officeDocument/2006/relationships/hyperlink" Target="https://github.com/JaidedAI/EasyOCR" TargetMode="External"/><Relationship Id="rId12" Type="http://schemas.openxmlformats.org/officeDocument/2006/relationships/hyperlink" Target="https://opencv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749701" y="28499"/>
            <a:ext cx="3538299" cy="1953101"/>
            <a:chOff x="0" y="0"/>
            <a:chExt cx="4717732" cy="26041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717796" cy="2604135"/>
            </a:xfrm>
            <a:custGeom>
              <a:avLst/>
              <a:gdLst/>
              <a:ahLst/>
              <a:cxnLst/>
              <a:rect l="l" t="t" r="r" b="b"/>
              <a:pathLst>
                <a:path w="4717796" h="2604135">
                  <a:moveTo>
                    <a:pt x="0" y="0"/>
                  </a:moveTo>
                  <a:lnTo>
                    <a:pt x="4717796" y="0"/>
                  </a:lnTo>
                  <a:lnTo>
                    <a:pt x="4717796" y="2604135"/>
                  </a:lnTo>
                  <a:lnTo>
                    <a:pt x="0" y="2604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48" b="-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9454829" y="-1304649"/>
            <a:ext cx="11767861" cy="13336076"/>
          </a:xfrm>
          <a:custGeom>
            <a:avLst/>
            <a:gdLst/>
            <a:ahLst/>
            <a:cxnLst/>
            <a:rect l="l" t="t" r="r" b="b"/>
            <a:pathLst>
              <a:path w="11767861" h="13336076">
                <a:moveTo>
                  <a:pt x="0" y="0"/>
                </a:moveTo>
                <a:lnTo>
                  <a:pt x="11767862" y="0"/>
                </a:lnTo>
                <a:lnTo>
                  <a:pt x="11767862" y="13336077"/>
                </a:lnTo>
                <a:lnTo>
                  <a:pt x="0" y="133360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7112498"/>
            <a:ext cx="9067286" cy="3174492"/>
            <a:chOff x="0" y="0"/>
            <a:chExt cx="12089714" cy="423265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089765" cy="4232656"/>
            </a:xfrm>
            <a:custGeom>
              <a:avLst/>
              <a:gdLst/>
              <a:ahLst/>
              <a:cxnLst/>
              <a:rect l="l" t="t" r="r" b="b"/>
              <a:pathLst>
                <a:path w="12089765" h="4232656">
                  <a:moveTo>
                    <a:pt x="0" y="0"/>
                  </a:moveTo>
                  <a:lnTo>
                    <a:pt x="12089765" y="0"/>
                  </a:lnTo>
                  <a:lnTo>
                    <a:pt x="12089765" y="4232656"/>
                  </a:lnTo>
                  <a:lnTo>
                    <a:pt x="0" y="42326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508159" y="557527"/>
            <a:ext cx="1780603" cy="1723358"/>
            <a:chOff x="0" y="0"/>
            <a:chExt cx="2374138" cy="22978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374138" cy="2297811"/>
            </a:xfrm>
            <a:custGeom>
              <a:avLst/>
              <a:gdLst/>
              <a:ahLst/>
              <a:cxnLst/>
              <a:rect l="l" t="t" r="r" b="b"/>
              <a:pathLst>
                <a:path w="2374138" h="2297811">
                  <a:moveTo>
                    <a:pt x="0" y="0"/>
                  </a:moveTo>
                  <a:lnTo>
                    <a:pt x="2374138" y="0"/>
                  </a:lnTo>
                  <a:lnTo>
                    <a:pt x="2374138" y="2297811"/>
                  </a:lnTo>
                  <a:lnTo>
                    <a:pt x="0" y="2297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60" r="-190" b="-1857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508159" y="2702052"/>
            <a:ext cx="8162677" cy="2696528"/>
            <a:chOff x="0" y="0"/>
            <a:chExt cx="8162684" cy="269652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62677" cy="2696591"/>
            </a:xfrm>
            <a:custGeom>
              <a:avLst/>
              <a:gdLst/>
              <a:ahLst/>
              <a:cxnLst/>
              <a:rect l="l" t="t" r="r" b="b"/>
              <a:pathLst>
                <a:path w="8162677" h="2696591">
                  <a:moveTo>
                    <a:pt x="0" y="2696591"/>
                  </a:moveTo>
                  <a:lnTo>
                    <a:pt x="8162677" y="2696591"/>
                  </a:lnTo>
                  <a:lnTo>
                    <a:pt x="816267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9445304" y="-63503"/>
            <a:ext cx="8906189" cy="10413997"/>
            <a:chOff x="0" y="0"/>
            <a:chExt cx="8906193" cy="10414000"/>
          </a:xfrm>
        </p:grpSpPr>
        <p:sp>
          <p:nvSpPr>
            <p:cNvPr id="12" name="Freeform 12"/>
            <p:cNvSpPr/>
            <p:nvPr/>
          </p:nvSpPr>
          <p:spPr>
            <a:xfrm>
              <a:off x="706628" y="5932551"/>
              <a:ext cx="6783578" cy="3308223"/>
            </a:xfrm>
            <a:custGeom>
              <a:avLst/>
              <a:gdLst/>
              <a:ahLst/>
              <a:cxnLst/>
              <a:rect l="l" t="t" r="r" b="b"/>
              <a:pathLst>
                <a:path w="6783578" h="3308223">
                  <a:moveTo>
                    <a:pt x="0" y="0"/>
                  </a:moveTo>
                  <a:lnTo>
                    <a:pt x="6783578" y="0"/>
                  </a:lnTo>
                  <a:lnTo>
                    <a:pt x="6783578" y="3308223"/>
                  </a:lnTo>
                  <a:lnTo>
                    <a:pt x="0" y="3308223"/>
                  </a:lnTo>
                  <a:close/>
                </a:path>
              </a:pathLst>
            </a:custGeom>
            <a:solidFill>
              <a:srgbClr val="F1EFE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-6071108" y="5927852"/>
              <a:ext cx="13556614" cy="3317748"/>
            </a:xfrm>
            <a:custGeom>
              <a:avLst/>
              <a:gdLst/>
              <a:ahLst/>
              <a:cxnLst/>
              <a:rect l="l" t="t" r="r" b="b"/>
              <a:pathLst>
                <a:path w="13556614" h="3317748">
                  <a:moveTo>
                    <a:pt x="13556615" y="9525"/>
                  </a:moveTo>
                  <a:lnTo>
                    <a:pt x="13556615" y="3308223"/>
                  </a:lnTo>
                  <a:lnTo>
                    <a:pt x="6782435" y="3308223"/>
                  </a:lnTo>
                  <a:lnTo>
                    <a:pt x="6782435" y="9525"/>
                  </a:lnTo>
                  <a:close/>
                  <a:moveTo>
                    <a:pt x="0" y="0"/>
                  </a:moveTo>
                  <a:lnTo>
                    <a:pt x="0" y="3317748"/>
                  </a:lnTo>
                  <a:lnTo>
                    <a:pt x="6791960" y="3317748"/>
                  </a:lnTo>
                  <a:lnTo>
                    <a:pt x="6791960" y="3313049"/>
                  </a:lnTo>
                  <a:lnTo>
                    <a:pt x="6791960" y="4699"/>
                  </a:lnTo>
                  <a:lnTo>
                    <a:pt x="679196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390396" y="63500"/>
              <a:ext cx="7452360" cy="7836027"/>
            </a:xfrm>
            <a:custGeom>
              <a:avLst/>
              <a:gdLst/>
              <a:ahLst/>
              <a:cxnLst/>
              <a:rect l="l" t="t" r="r" b="b"/>
              <a:pathLst>
                <a:path w="7452360" h="7836027">
                  <a:moveTo>
                    <a:pt x="0" y="0"/>
                  </a:moveTo>
                  <a:lnTo>
                    <a:pt x="0" y="7836027"/>
                  </a:lnTo>
                  <a:lnTo>
                    <a:pt x="7452360" y="7836027"/>
                  </a:lnTo>
                  <a:lnTo>
                    <a:pt x="745236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63500" y="867537"/>
              <a:ext cx="8109204" cy="8678926"/>
            </a:xfrm>
            <a:custGeom>
              <a:avLst/>
              <a:gdLst/>
              <a:ahLst/>
              <a:cxnLst/>
              <a:rect l="l" t="t" r="r" b="b"/>
              <a:pathLst>
                <a:path w="8109204" h="8678926">
                  <a:moveTo>
                    <a:pt x="0" y="8678926"/>
                  </a:moveTo>
                  <a:lnTo>
                    <a:pt x="8109204" y="8678926"/>
                  </a:lnTo>
                  <a:lnTo>
                    <a:pt x="81092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721106" y="2528189"/>
              <a:ext cx="6794119" cy="25654"/>
            </a:xfrm>
            <a:custGeom>
              <a:avLst/>
              <a:gdLst/>
              <a:ahLst/>
              <a:cxnLst/>
              <a:rect l="l" t="t" r="r" b="b"/>
              <a:pathLst>
                <a:path w="6794119" h="25654">
                  <a:moveTo>
                    <a:pt x="0" y="25654"/>
                  </a:moveTo>
                  <a:lnTo>
                    <a:pt x="6794119" y="25654"/>
                  </a:lnTo>
                  <a:lnTo>
                    <a:pt x="67941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688467" y="3874008"/>
              <a:ext cx="6794119" cy="25654"/>
            </a:xfrm>
            <a:custGeom>
              <a:avLst/>
              <a:gdLst/>
              <a:ahLst/>
              <a:cxnLst/>
              <a:rect l="l" t="t" r="r" b="b"/>
              <a:pathLst>
                <a:path w="6794119" h="25654">
                  <a:moveTo>
                    <a:pt x="0" y="25654"/>
                  </a:moveTo>
                  <a:lnTo>
                    <a:pt x="6794119" y="25654"/>
                  </a:lnTo>
                  <a:lnTo>
                    <a:pt x="67941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688467" y="5223256"/>
              <a:ext cx="6794119" cy="25654"/>
            </a:xfrm>
            <a:custGeom>
              <a:avLst/>
              <a:gdLst/>
              <a:ahLst/>
              <a:cxnLst/>
              <a:rect l="l" t="t" r="r" b="b"/>
              <a:pathLst>
                <a:path w="6794119" h="25654">
                  <a:moveTo>
                    <a:pt x="0" y="25654"/>
                  </a:moveTo>
                  <a:lnTo>
                    <a:pt x="6794119" y="25654"/>
                  </a:lnTo>
                  <a:lnTo>
                    <a:pt x="679411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703072" y="5910961"/>
              <a:ext cx="6824599" cy="3365627"/>
            </a:xfrm>
            <a:custGeom>
              <a:avLst/>
              <a:gdLst/>
              <a:ahLst/>
              <a:cxnLst/>
              <a:rect l="l" t="t" r="r" b="b"/>
              <a:pathLst>
                <a:path w="6824599" h="3365627">
                  <a:moveTo>
                    <a:pt x="0" y="3365627"/>
                  </a:moveTo>
                  <a:lnTo>
                    <a:pt x="6824599" y="3365627"/>
                  </a:lnTo>
                  <a:lnTo>
                    <a:pt x="682459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1707515" y="5207000"/>
              <a:ext cx="7135241" cy="5143500"/>
            </a:xfrm>
            <a:custGeom>
              <a:avLst/>
              <a:gdLst/>
              <a:ahLst/>
              <a:cxnLst/>
              <a:rect l="l" t="t" r="r" b="b"/>
              <a:pathLst>
                <a:path w="7135241" h="5143500">
                  <a:moveTo>
                    <a:pt x="0" y="0"/>
                  </a:moveTo>
                  <a:lnTo>
                    <a:pt x="0" y="5143500"/>
                  </a:lnTo>
                  <a:lnTo>
                    <a:pt x="7135241" y="5143500"/>
                  </a:lnTo>
                  <a:lnTo>
                    <a:pt x="7135241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538963" y="2989231"/>
            <a:ext cx="8262814" cy="2807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477"/>
              </a:lnSpc>
            </a:pPr>
            <a:r>
              <a:rPr lang="en-US" sz="13198" b="1">
                <a:solidFill>
                  <a:srgbClr val="111111"/>
                </a:solidFill>
                <a:latin typeface="Arimo Bold"/>
                <a:ea typeface="Arimo Bold"/>
                <a:cs typeface="Arimo Bold"/>
                <a:sym typeface="Arimo Bold"/>
              </a:rPr>
              <a:t>OMNI</a:t>
            </a:r>
            <a:r>
              <a:rPr lang="en-US" sz="13198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KON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133800" y="3889829"/>
            <a:ext cx="1175661" cy="58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THEME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166404" y="2540660"/>
            <a:ext cx="1761944" cy="58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 dirty="0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MEMBERS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49354" y="1196969"/>
            <a:ext cx="2347446" cy="581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 dirty="0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TEAM NAME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157904" y="983456"/>
            <a:ext cx="1291895" cy="422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 dirty="0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01 </a:t>
            </a:r>
            <a:r>
              <a:rPr lang="en-US" sz="2599" b="1" dirty="0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66404" y="1702213"/>
            <a:ext cx="2177996" cy="581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 dirty="0" err="1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Codeators</a:t>
            </a:r>
            <a:endParaRPr lang="en-US" sz="3358" b="1" dirty="0">
              <a:solidFill>
                <a:srgbClr val="888888"/>
              </a:solidFill>
              <a:latin typeface="Rajdhani Bold"/>
              <a:ea typeface="Rajdhani Bold"/>
              <a:cs typeface="Rajdhani Bold"/>
              <a:sym typeface="Rajdhani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0210281" y="3060602"/>
            <a:ext cx="6428542" cy="571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2 [Prince Sherathiya, Soham Shetye]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116098" y="4478522"/>
            <a:ext cx="2075902" cy="581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01"/>
              </a:lnSpc>
            </a:pPr>
            <a:r>
              <a:rPr lang="en-US" sz="3358" b="1" dirty="0" err="1">
                <a:solidFill>
                  <a:srgbClr val="888888"/>
                </a:solidFill>
                <a:latin typeface="Rajdhani Bold"/>
                <a:ea typeface="Rajdhani Bold"/>
                <a:cs typeface="Rajdhani Bold"/>
                <a:sym typeface="Rajdhani Bold"/>
              </a:rPr>
              <a:t>CyberTech</a:t>
            </a:r>
            <a:endParaRPr lang="en-US" sz="3358" b="1" dirty="0">
              <a:solidFill>
                <a:srgbClr val="888888"/>
              </a:solidFill>
              <a:latin typeface="Rajdhani Bold"/>
              <a:ea typeface="Rajdhani Bold"/>
              <a:cs typeface="Rajdhani Bold"/>
              <a:sym typeface="Rajdhani Bold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0210281" y="6740014"/>
            <a:ext cx="6584398" cy="2207310"/>
            <a:chOff x="0" y="0"/>
            <a:chExt cx="13253326" cy="444295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3253326" cy="4442957"/>
            </a:xfrm>
            <a:custGeom>
              <a:avLst/>
              <a:gdLst/>
              <a:ahLst/>
              <a:cxnLst/>
              <a:rect l="l" t="t" r="r" b="b"/>
              <a:pathLst>
                <a:path w="13253326" h="4442957">
                  <a:moveTo>
                    <a:pt x="0" y="0"/>
                  </a:moveTo>
                  <a:lnTo>
                    <a:pt x="13253326" y="0"/>
                  </a:lnTo>
                  <a:lnTo>
                    <a:pt x="13253326" y="4442957"/>
                  </a:lnTo>
                  <a:lnTo>
                    <a:pt x="0" y="4442957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t="-51402" r="-10390" b="23076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23825"/>
              <a:ext cx="13253326" cy="456678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B3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SATYAKAVACH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B3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AI-Powered Deepfake &amp; Manipulated Media Detection</a:t>
              </a:r>
            </a:p>
            <a:p>
              <a:pPr algn="ctr">
                <a:lnSpc>
                  <a:spcPts val="2880"/>
                </a:lnSpc>
              </a:pPr>
              <a:r>
                <a:rPr lang="en-US" sz="2400" b="1">
                  <a:solidFill>
                    <a:srgbClr val="1B3A8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Detect • Verify • Trust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469123" y="5947345"/>
            <a:ext cx="5910858" cy="405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4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Problem Statement: Omni_CyberTech_4   •   Round 2 / Phase 2 Progress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426142" y="6305613"/>
            <a:ext cx="6212681" cy="40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Detecting Deepfake and Manipulated Media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4978" y="1346588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02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14453428" cy="6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45"/>
              </a:lnSpc>
            </a:pPr>
            <a:r>
              <a:rPr lang="en-US" sz="36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SatyaKavach - AI-Powered Deepfake &amp; Manipulated Media Detection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982385" y="6798349"/>
            <a:ext cx="7485513" cy="1459390"/>
            <a:chOff x="0" y="0"/>
            <a:chExt cx="1881481" cy="3668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81481" cy="366817"/>
            </a:xfrm>
            <a:custGeom>
              <a:avLst/>
              <a:gdLst/>
              <a:ahLst/>
              <a:cxnLst/>
              <a:rect l="l" t="t" r="r" b="b"/>
              <a:pathLst>
                <a:path w="1881481" h="366817">
                  <a:moveTo>
                    <a:pt x="20685" y="0"/>
                  </a:moveTo>
                  <a:lnTo>
                    <a:pt x="1860796" y="0"/>
                  </a:lnTo>
                  <a:cubicBezTo>
                    <a:pt x="1866282" y="0"/>
                    <a:pt x="1871544" y="2179"/>
                    <a:pt x="1875423" y="6059"/>
                  </a:cubicBezTo>
                  <a:cubicBezTo>
                    <a:pt x="1879302" y="9938"/>
                    <a:pt x="1881481" y="15199"/>
                    <a:pt x="1881481" y="20685"/>
                  </a:cubicBezTo>
                  <a:lnTo>
                    <a:pt x="1881481" y="346132"/>
                  </a:lnTo>
                  <a:cubicBezTo>
                    <a:pt x="1881481" y="351618"/>
                    <a:pt x="1879302" y="356880"/>
                    <a:pt x="1875423" y="360759"/>
                  </a:cubicBezTo>
                  <a:cubicBezTo>
                    <a:pt x="1871544" y="364638"/>
                    <a:pt x="1866282" y="366817"/>
                    <a:pt x="1860796" y="366817"/>
                  </a:cubicBezTo>
                  <a:lnTo>
                    <a:pt x="20685" y="366817"/>
                  </a:lnTo>
                  <a:cubicBezTo>
                    <a:pt x="15199" y="366817"/>
                    <a:pt x="9938" y="364638"/>
                    <a:pt x="6059" y="360759"/>
                  </a:cubicBezTo>
                  <a:cubicBezTo>
                    <a:pt x="2179" y="356880"/>
                    <a:pt x="0" y="351618"/>
                    <a:pt x="0" y="346132"/>
                  </a:cubicBezTo>
                  <a:lnTo>
                    <a:pt x="0" y="20685"/>
                  </a:lnTo>
                  <a:cubicBezTo>
                    <a:pt x="0" y="15199"/>
                    <a:pt x="2179" y="9938"/>
                    <a:pt x="6059" y="6059"/>
                  </a:cubicBezTo>
                  <a:cubicBezTo>
                    <a:pt x="9938" y="2179"/>
                    <a:pt x="15199" y="0"/>
                    <a:pt x="2068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81481" cy="404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80622" y="4249222"/>
            <a:ext cx="399227" cy="298986"/>
          </a:xfrm>
          <a:custGeom>
            <a:avLst/>
            <a:gdLst/>
            <a:ahLst/>
            <a:cxnLst/>
            <a:rect l="l" t="t" r="r" b="b"/>
            <a:pathLst>
              <a:path w="399227" h="298986">
                <a:moveTo>
                  <a:pt x="0" y="0"/>
                </a:moveTo>
                <a:lnTo>
                  <a:pt x="399227" y="0"/>
                </a:lnTo>
                <a:lnTo>
                  <a:pt x="399227" y="298986"/>
                </a:lnTo>
                <a:lnTo>
                  <a:pt x="0" y="2989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>
            <a:off x="1055404" y="6620243"/>
            <a:ext cx="399227" cy="399227"/>
          </a:xfrm>
          <a:custGeom>
            <a:avLst/>
            <a:gdLst/>
            <a:ahLst/>
            <a:cxnLst/>
            <a:rect l="l" t="t" r="r" b="b"/>
            <a:pathLst>
              <a:path w="399227" h="399227">
                <a:moveTo>
                  <a:pt x="0" y="0"/>
                </a:moveTo>
                <a:lnTo>
                  <a:pt x="399228" y="0"/>
                </a:lnTo>
                <a:lnTo>
                  <a:pt x="399228" y="399228"/>
                </a:lnTo>
                <a:lnTo>
                  <a:pt x="0" y="3992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5" name="Freeform 15"/>
          <p:cNvSpPr/>
          <p:nvPr/>
        </p:nvSpPr>
        <p:spPr>
          <a:xfrm>
            <a:off x="830916" y="6219701"/>
            <a:ext cx="932082" cy="834214"/>
          </a:xfrm>
          <a:custGeom>
            <a:avLst/>
            <a:gdLst/>
            <a:ahLst/>
            <a:cxnLst/>
            <a:rect l="l" t="t" r="r" b="b"/>
            <a:pathLst>
              <a:path w="932082" h="834214">
                <a:moveTo>
                  <a:pt x="0" y="0"/>
                </a:moveTo>
                <a:lnTo>
                  <a:pt x="932082" y="0"/>
                </a:lnTo>
                <a:lnTo>
                  <a:pt x="932082" y="834214"/>
                </a:lnTo>
                <a:lnTo>
                  <a:pt x="0" y="8342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11335026" y="3163042"/>
            <a:ext cx="5247388" cy="3977769"/>
            <a:chOff x="0" y="0"/>
            <a:chExt cx="1072228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2228" cy="812800"/>
            </a:xfrm>
            <a:custGeom>
              <a:avLst/>
              <a:gdLst/>
              <a:ahLst/>
              <a:cxnLst/>
              <a:rect l="l" t="t" r="r" b="b"/>
              <a:pathLst>
                <a:path w="1072228" h="812800">
                  <a:moveTo>
                    <a:pt x="53114" y="0"/>
                  </a:moveTo>
                  <a:lnTo>
                    <a:pt x="1019114" y="0"/>
                  </a:lnTo>
                  <a:cubicBezTo>
                    <a:pt x="1033201" y="0"/>
                    <a:pt x="1046711" y="5596"/>
                    <a:pt x="1056672" y="15557"/>
                  </a:cubicBezTo>
                  <a:cubicBezTo>
                    <a:pt x="1066632" y="25517"/>
                    <a:pt x="1072228" y="39027"/>
                    <a:pt x="1072228" y="53114"/>
                  </a:cubicBezTo>
                  <a:lnTo>
                    <a:pt x="1072228" y="759686"/>
                  </a:lnTo>
                  <a:cubicBezTo>
                    <a:pt x="1072228" y="773773"/>
                    <a:pt x="1066632" y="787283"/>
                    <a:pt x="1056672" y="797243"/>
                  </a:cubicBezTo>
                  <a:cubicBezTo>
                    <a:pt x="1046711" y="807204"/>
                    <a:pt x="1033201" y="812800"/>
                    <a:pt x="1019114" y="812800"/>
                  </a:cubicBezTo>
                  <a:lnTo>
                    <a:pt x="53114" y="812800"/>
                  </a:lnTo>
                  <a:cubicBezTo>
                    <a:pt x="39027" y="812800"/>
                    <a:pt x="25517" y="807204"/>
                    <a:pt x="15557" y="797243"/>
                  </a:cubicBezTo>
                  <a:cubicBezTo>
                    <a:pt x="5596" y="787283"/>
                    <a:pt x="0" y="773773"/>
                    <a:pt x="0" y="759686"/>
                  </a:cubicBezTo>
                  <a:lnTo>
                    <a:pt x="0" y="53114"/>
                  </a:lnTo>
                  <a:cubicBezTo>
                    <a:pt x="0" y="39027"/>
                    <a:pt x="5596" y="25517"/>
                    <a:pt x="15557" y="15557"/>
                  </a:cubicBezTo>
                  <a:cubicBezTo>
                    <a:pt x="25517" y="5596"/>
                    <a:pt x="39027" y="0"/>
                    <a:pt x="53114" y="0"/>
                  </a:cubicBezTo>
                  <a:close/>
                </a:path>
              </a:pathLst>
            </a:custGeom>
            <a:blipFill>
              <a:blip r:embed="rId9"/>
              <a:stretch>
                <a:fillRect l="-536" r="-536"/>
              </a:stretch>
            </a:blipFill>
            <a:ln w="38100" cap="rnd">
              <a:solidFill>
                <a:srgbClr val="E7F2FA"/>
              </a:solidFill>
              <a:prstDash val="solid"/>
              <a:round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0216778" y="1647196"/>
            <a:ext cx="2925034" cy="1666478"/>
            <a:chOff x="0" y="0"/>
            <a:chExt cx="1506529" cy="85831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506529" cy="858314"/>
            </a:xfrm>
            <a:custGeom>
              <a:avLst/>
              <a:gdLst/>
              <a:ahLst/>
              <a:cxnLst/>
              <a:rect l="l" t="t" r="r" b="b"/>
              <a:pathLst>
                <a:path w="1506529" h="858314">
                  <a:moveTo>
                    <a:pt x="79403" y="0"/>
                  </a:moveTo>
                  <a:lnTo>
                    <a:pt x="1427126" y="0"/>
                  </a:lnTo>
                  <a:cubicBezTo>
                    <a:pt x="1470979" y="0"/>
                    <a:pt x="1506529" y="35550"/>
                    <a:pt x="1506529" y="79403"/>
                  </a:cubicBezTo>
                  <a:lnTo>
                    <a:pt x="1506529" y="778910"/>
                  </a:lnTo>
                  <a:cubicBezTo>
                    <a:pt x="1506529" y="822764"/>
                    <a:pt x="1470979" y="858314"/>
                    <a:pt x="1427126" y="858314"/>
                  </a:cubicBezTo>
                  <a:lnTo>
                    <a:pt x="79403" y="858314"/>
                  </a:lnTo>
                  <a:cubicBezTo>
                    <a:pt x="35550" y="858314"/>
                    <a:pt x="0" y="822764"/>
                    <a:pt x="0" y="778910"/>
                  </a:cubicBezTo>
                  <a:lnTo>
                    <a:pt x="0" y="79403"/>
                  </a:lnTo>
                  <a:cubicBezTo>
                    <a:pt x="0" y="35550"/>
                    <a:pt x="35550" y="0"/>
                    <a:pt x="794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506529" cy="8964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121399" y="7038897"/>
            <a:ext cx="2713876" cy="1555869"/>
            <a:chOff x="0" y="0"/>
            <a:chExt cx="1397773" cy="80134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397773" cy="801345"/>
            </a:xfrm>
            <a:custGeom>
              <a:avLst/>
              <a:gdLst/>
              <a:ahLst/>
              <a:cxnLst/>
              <a:rect l="l" t="t" r="r" b="b"/>
              <a:pathLst>
                <a:path w="1397773" h="801345">
                  <a:moveTo>
                    <a:pt x="85582" y="0"/>
                  </a:moveTo>
                  <a:lnTo>
                    <a:pt x="1312191" y="0"/>
                  </a:lnTo>
                  <a:cubicBezTo>
                    <a:pt x="1334889" y="0"/>
                    <a:pt x="1356657" y="9017"/>
                    <a:pt x="1372707" y="25066"/>
                  </a:cubicBezTo>
                  <a:cubicBezTo>
                    <a:pt x="1388756" y="41116"/>
                    <a:pt x="1397773" y="62884"/>
                    <a:pt x="1397773" y="85582"/>
                  </a:cubicBezTo>
                  <a:lnTo>
                    <a:pt x="1397773" y="715764"/>
                  </a:lnTo>
                  <a:cubicBezTo>
                    <a:pt x="1397773" y="763029"/>
                    <a:pt x="1359457" y="801345"/>
                    <a:pt x="1312191" y="801345"/>
                  </a:cubicBezTo>
                  <a:lnTo>
                    <a:pt x="85582" y="801345"/>
                  </a:lnTo>
                  <a:cubicBezTo>
                    <a:pt x="62884" y="801345"/>
                    <a:pt x="41116" y="792329"/>
                    <a:pt x="25066" y="776279"/>
                  </a:cubicBezTo>
                  <a:cubicBezTo>
                    <a:pt x="9017" y="760229"/>
                    <a:pt x="0" y="738461"/>
                    <a:pt x="0" y="715764"/>
                  </a:cubicBezTo>
                  <a:lnTo>
                    <a:pt x="0" y="85582"/>
                  </a:lnTo>
                  <a:cubicBezTo>
                    <a:pt x="0" y="62884"/>
                    <a:pt x="9017" y="41116"/>
                    <a:pt x="25066" y="25066"/>
                  </a:cubicBezTo>
                  <a:cubicBezTo>
                    <a:pt x="41116" y="9017"/>
                    <a:pt x="62884" y="0"/>
                    <a:pt x="8558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397773" cy="839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315608" y="1702501"/>
            <a:ext cx="2473656" cy="1555869"/>
            <a:chOff x="0" y="0"/>
            <a:chExt cx="1274048" cy="80134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74048" cy="801345"/>
            </a:xfrm>
            <a:custGeom>
              <a:avLst/>
              <a:gdLst/>
              <a:ahLst/>
              <a:cxnLst/>
              <a:rect l="l" t="t" r="r" b="b"/>
              <a:pathLst>
                <a:path w="1274048" h="801345">
                  <a:moveTo>
                    <a:pt x="93892" y="0"/>
                  </a:moveTo>
                  <a:lnTo>
                    <a:pt x="1180156" y="0"/>
                  </a:lnTo>
                  <a:cubicBezTo>
                    <a:pt x="1232011" y="0"/>
                    <a:pt x="1274048" y="42037"/>
                    <a:pt x="1274048" y="93892"/>
                  </a:cubicBezTo>
                  <a:lnTo>
                    <a:pt x="1274048" y="707453"/>
                  </a:lnTo>
                  <a:cubicBezTo>
                    <a:pt x="1274048" y="732355"/>
                    <a:pt x="1264156" y="756236"/>
                    <a:pt x="1246548" y="773845"/>
                  </a:cubicBezTo>
                  <a:cubicBezTo>
                    <a:pt x="1228940" y="791453"/>
                    <a:pt x="1205058" y="801345"/>
                    <a:pt x="1180156" y="801345"/>
                  </a:cubicBezTo>
                  <a:lnTo>
                    <a:pt x="93892" y="801345"/>
                  </a:lnTo>
                  <a:cubicBezTo>
                    <a:pt x="68991" y="801345"/>
                    <a:pt x="45109" y="791453"/>
                    <a:pt x="27500" y="773845"/>
                  </a:cubicBezTo>
                  <a:cubicBezTo>
                    <a:pt x="9892" y="756236"/>
                    <a:pt x="0" y="732355"/>
                    <a:pt x="0" y="707453"/>
                  </a:cubicBezTo>
                  <a:lnTo>
                    <a:pt x="0" y="93892"/>
                  </a:lnTo>
                  <a:cubicBezTo>
                    <a:pt x="0" y="68991"/>
                    <a:pt x="9892" y="45109"/>
                    <a:pt x="27500" y="27500"/>
                  </a:cubicBezTo>
                  <a:cubicBezTo>
                    <a:pt x="45109" y="9892"/>
                    <a:pt x="68991" y="0"/>
                    <a:pt x="9389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74048" cy="8394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490812" y="6946390"/>
            <a:ext cx="2263527" cy="1740884"/>
            <a:chOff x="0" y="0"/>
            <a:chExt cx="1165822" cy="89663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65822" cy="896636"/>
            </a:xfrm>
            <a:custGeom>
              <a:avLst/>
              <a:gdLst/>
              <a:ahLst/>
              <a:cxnLst/>
              <a:rect l="l" t="t" r="r" b="b"/>
              <a:pathLst>
                <a:path w="1165822" h="896636">
                  <a:moveTo>
                    <a:pt x="102609" y="0"/>
                  </a:moveTo>
                  <a:lnTo>
                    <a:pt x="1063213" y="0"/>
                  </a:lnTo>
                  <a:cubicBezTo>
                    <a:pt x="1090427" y="0"/>
                    <a:pt x="1116526" y="10811"/>
                    <a:pt x="1135769" y="30053"/>
                  </a:cubicBezTo>
                  <a:cubicBezTo>
                    <a:pt x="1155012" y="49296"/>
                    <a:pt x="1165822" y="75395"/>
                    <a:pt x="1165822" y="102609"/>
                  </a:cubicBezTo>
                  <a:lnTo>
                    <a:pt x="1165822" y="794028"/>
                  </a:lnTo>
                  <a:cubicBezTo>
                    <a:pt x="1165822" y="850697"/>
                    <a:pt x="1119883" y="896636"/>
                    <a:pt x="1063213" y="896636"/>
                  </a:cubicBezTo>
                  <a:lnTo>
                    <a:pt x="102609" y="896636"/>
                  </a:lnTo>
                  <a:cubicBezTo>
                    <a:pt x="75395" y="896636"/>
                    <a:pt x="49296" y="885826"/>
                    <a:pt x="30053" y="866583"/>
                  </a:cubicBezTo>
                  <a:cubicBezTo>
                    <a:pt x="10811" y="847340"/>
                    <a:pt x="0" y="821241"/>
                    <a:pt x="0" y="794028"/>
                  </a:cubicBezTo>
                  <a:lnTo>
                    <a:pt x="0" y="102609"/>
                  </a:lnTo>
                  <a:cubicBezTo>
                    <a:pt x="0" y="75395"/>
                    <a:pt x="10811" y="49296"/>
                    <a:pt x="30053" y="30053"/>
                  </a:cubicBezTo>
                  <a:cubicBezTo>
                    <a:pt x="49296" y="10811"/>
                    <a:pt x="75395" y="0"/>
                    <a:pt x="10260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1165822" cy="934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61150" y="1343457"/>
            <a:ext cx="2042469" cy="42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  <a:spcBef>
                <a:spcPct val="0"/>
              </a:spcBef>
            </a:pPr>
            <a:r>
              <a:rPr lang="en-US" sz="2523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Problem Title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8643" y="1921644"/>
            <a:ext cx="7439078" cy="37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86"/>
              </a:lnSpc>
              <a:spcBef>
                <a:spcPct val="0"/>
              </a:spcBef>
            </a:pPr>
            <a:r>
              <a:rPr lang="en-US" sz="2204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AI-Powered Detection of Deepfake &amp; Manipulated Media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59471" y="3037000"/>
            <a:ext cx="9531341" cy="1933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Generative AI can now create highly realistic fake images, videos, and voices that are difficult for ordinary users to distinguish from authentic content.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Deepfakes are increasingly used to spread misinformation, impersonate individuals, manipulate public opinion, and damage trust in digital media.</a:t>
            </a:r>
          </a:p>
          <a:p>
            <a:pPr algn="l">
              <a:lnSpc>
                <a:spcPts val="2474"/>
              </a:lnSpc>
              <a:spcBef>
                <a:spcPct val="0"/>
              </a:spcBef>
            </a:pPr>
            <a:r>
              <a:rPr lang="en-US" sz="1767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Citizens, journalists, educators, and organizations need an accessible way to verify whether media is authentic or manipulated before acting on it.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59471" y="5666299"/>
            <a:ext cx="9531341" cy="36140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01 - Deepfakes are becoming more realistic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AI-generated media quality has improved significantly, making manual detection increasingly difficult.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02 - Misinformation spreads rapidly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Manipulated videos, images, and audio can reach millions of users before verification occurs.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03 - Lack of citizen-friendly tools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Most deepfake detection solutions are research-focused or enterprise-oriented rather than accessible to everyday users.</a:t>
            </a:r>
          </a:p>
          <a:p>
            <a:pPr algn="l">
              <a:lnSpc>
                <a:spcPts val="2601"/>
              </a:lnSpc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04 - Need for explainable verification</a:t>
            </a:r>
          </a:p>
          <a:p>
            <a:pPr algn="l">
              <a:lnSpc>
                <a:spcPts val="2601"/>
              </a:lnSpc>
              <a:spcBef>
                <a:spcPct val="0"/>
              </a:spcBef>
            </a:pPr>
            <a:r>
              <a:rPr lang="en-US" sz="185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Users need evidence-backed explanations, not just a "fake" or "real" label.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59471" y="2462858"/>
            <a:ext cx="6219600" cy="42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  <a:spcBef>
                <a:spcPct val="0"/>
              </a:spcBef>
            </a:pPr>
            <a:r>
              <a:rPr lang="en-US" sz="2523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Challenge Overview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643" y="5140119"/>
            <a:ext cx="4736133" cy="4255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2"/>
              </a:lnSpc>
              <a:spcBef>
                <a:spcPct val="0"/>
              </a:spcBef>
            </a:pPr>
            <a:r>
              <a:rPr lang="en-US" sz="2523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did your team choose this?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0280333" y="1847969"/>
            <a:ext cx="1627511" cy="53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4003" i="1" spc="-220">
                <a:solidFill>
                  <a:srgbClr val="E7F2FA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500M+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337052" y="2414294"/>
            <a:ext cx="2584258" cy="84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F8FAFC"/>
                </a:solidFill>
                <a:latin typeface="Proxima Nova"/>
                <a:ea typeface="Proxima Nova"/>
                <a:cs typeface="Proxima Nova"/>
                <a:sym typeface="Proxima Nova"/>
              </a:rPr>
              <a:t>Deepfake videos and images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F8FAFC"/>
                </a:solidFill>
                <a:latin typeface="Proxima Nova"/>
                <a:ea typeface="Proxima Nova"/>
                <a:cs typeface="Proxima Nova"/>
                <a:sym typeface="Proxima Nova"/>
              </a:rPr>
              <a:t>are expected to circulate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F8FAFC"/>
                </a:solidFill>
                <a:latin typeface="Proxima Nova"/>
                <a:ea typeface="Proxima Nova"/>
                <a:cs typeface="Proxima Nova"/>
                <a:sym typeface="Proxima Nova"/>
              </a:rPr>
              <a:t>across digital platforms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F8FAFC"/>
                </a:solidFill>
                <a:latin typeface="Proxima Nova"/>
                <a:ea typeface="Proxima Nova"/>
                <a:cs typeface="Proxima Nova"/>
                <a:sym typeface="Proxima Nova"/>
              </a:rPr>
              <a:t>globally each year.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4277419" y="7283426"/>
            <a:ext cx="2415832" cy="485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3639" i="1" spc="-200">
                <a:solidFill>
                  <a:srgbClr val="E7F2FA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3X FASTER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4277419" y="7840434"/>
            <a:ext cx="2500032" cy="6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Spread of highly engaging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manipulated media compared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to verified content.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477351" y="2440751"/>
            <a:ext cx="2249841" cy="63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Image • Video • Audio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Verification in one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unified platform.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477351" y="1911535"/>
            <a:ext cx="3209673" cy="401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2"/>
              </a:lnSpc>
            </a:pPr>
            <a:r>
              <a:rPr lang="en-US" sz="3002" i="1" spc="-165">
                <a:solidFill>
                  <a:srgbClr val="E7F2FA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MULTI-MODAL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642506" y="7186302"/>
            <a:ext cx="1036789" cy="53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3"/>
              </a:lnSpc>
            </a:pPr>
            <a:r>
              <a:rPr lang="en-US" sz="4003" i="1" spc="-220">
                <a:solidFill>
                  <a:srgbClr val="E7F2FA"/>
                </a:solidFill>
                <a:latin typeface="Proxima Nova Italics"/>
                <a:ea typeface="Proxima Nova Italics"/>
                <a:cs typeface="Proxima Nova Italics"/>
                <a:sym typeface="Proxima Nova Italics"/>
              </a:rPr>
              <a:t>96%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706536" y="7752628"/>
            <a:ext cx="1945519" cy="846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of detected deepfakes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in public datasets</a:t>
            </a:r>
          </a:p>
          <a:p>
            <a:pPr algn="l">
              <a:lnSpc>
                <a:spcPts val="1672"/>
              </a:lnSpc>
            </a:pPr>
            <a:r>
              <a:rPr lang="en-US" sz="1672" spc="-91">
                <a:solidFill>
                  <a:srgbClr val="E7F2FA"/>
                </a:solidFill>
                <a:latin typeface="Proxima Nova"/>
                <a:ea typeface="Proxima Nova"/>
                <a:cs typeface="Proxima Nova"/>
                <a:sym typeface="Proxima Nova"/>
              </a:rPr>
              <a:t>contain manipulated faces.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0490812" y="8730612"/>
            <a:ext cx="6367288" cy="519237"/>
            <a:chOff x="0" y="0"/>
            <a:chExt cx="3279451" cy="26743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279451" cy="267431"/>
            </a:xfrm>
            <a:custGeom>
              <a:avLst/>
              <a:gdLst/>
              <a:ahLst/>
              <a:cxnLst/>
              <a:rect l="l" t="t" r="r" b="b"/>
              <a:pathLst>
                <a:path w="3279451" h="267431">
                  <a:moveTo>
                    <a:pt x="36477" y="0"/>
                  </a:moveTo>
                  <a:lnTo>
                    <a:pt x="3242974" y="0"/>
                  </a:lnTo>
                  <a:cubicBezTo>
                    <a:pt x="3263120" y="0"/>
                    <a:pt x="3279451" y="16331"/>
                    <a:pt x="3279451" y="36477"/>
                  </a:cubicBezTo>
                  <a:lnTo>
                    <a:pt x="3279451" y="230954"/>
                  </a:lnTo>
                  <a:cubicBezTo>
                    <a:pt x="3279451" y="251100"/>
                    <a:pt x="3263120" y="267431"/>
                    <a:pt x="3242974" y="267431"/>
                  </a:cubicBezTo>
                  <a:lnTo>
                    <a:pt x="36477" y="267431"/>
                  </a:lnTo>
                  <a:cubicBezTo>
                    <a:pt x="16331" y="267431"/>
                    <a:pt x="0" y="251100"/>
                    <a:pt x="0" y="230954"/>
                  </a:cubicBezTo>
                  <a:lnTo>
                    <a:pt x="0" y="36477"/>
                  </a:lnTo>
                  <a:cubicBezTo>
                    <a:pt x="0" y="16331"/>
                    <a:pt x="16331" y="0"/>
                    <a:pt x="3647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2854">
                    <a:alpha val="100000"/>
                  </a:srgbClr>
                </a:gs>
                <a:gs pos="100000">
                  <a:srgbClr val="5961E1">
                    <a:alpha val="100000"/>
                  </a:srgbClr>
                </a:gs>
              </a:gsLst>
              <a:lin ang="2700000"/>
            </a:gradFill>
            <a:ln w="19050" cap="rnd">
              <a:solidFill>
                <a:srgbClr val="E7F2FA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3279451" cy="3055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855677" y="8846952"/>
            <a:ext cx="6206086" cy="2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5"/>
              </a:lnSpc>
              <a:spcBef>
                <a:spcPct val="0"/>
              </a:spcBef>
            </a:pPr>
            <a:r>
              <a:rPr lang="en-US" sz="1547" b="1">
                <a:solidFill>
                  <a:srgbClr val="FFFFFF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Sources: DFDC, FaceForensics++, FakeAVCeleb, DeepFakeBench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6866" y="1341672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03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8976056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WHY THIS PROBLEM MATTERS</a:t>
            </a:r>
          </a:p>
        </p:txBody>
      </p:sp>
      <p:grpSp>
        <p:nvGrpSpPr>
          <p:cNvPr id="10" name="Group 10"/>
          <p:cNvGrpSpPr/>
          <p:nvPr/>
        </p:nvGrpSpPr>
        <p:grpSpPr>
          <a:xfrm rot="5400000">
            <a:off x="-501330" y="3313527"/>
            <a:ext cx="2978245" cy="402803"/>
            <a:chOff x="0" y="0"/>
            <a:chExt cx="3004843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04843" cy="406400"/>
            </a:xfrm>
            <a:custGeom>
              <a:avLst/>
              <a:gdLst/>
              <a:ahLst/>
              <a:cxnLst/>
              <a:rect l="l" t="t" r="r" b="b"/>
              <a:pathLst>
                <a:path w="3004843" h="406400">
                  <a:moveTo>
                    <a:pt x="2801643" y="0"/>
                  </a:moveTo>
                  <a:cubicBezTo>
                    <a:pt x="2913867" y="0"/>
                    <a:pt x="3004843" y="90976"/>
                    <a:pt x="3004843" y="203200"/>
                  </a:cubicBezTo>
                  <a:cubicBezTo>
                    <a:pt x="3004843" y="315424"/>
                    <a:pt x="2913867" y="406400"/>
                    <a:pt x="28016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0048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22139" y="1600308"/>
            <a:ext cx="7535088" cy="3732172"/>
            <a:chOff x="0" y="0"/>
            <a:chExt cx="1232953" cy="6106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32953" cy="610689"/>
            </a:xfrm>
            <a:custGeom>
              <a:avLst/>
              <a:gdLst/>
              <a:ahLst/>
              <a:cxnLst/>
              <a:rect l="l" t="t" r="r" b="b"/>
              <a:pathLst>
                <a:path w="1232953" h="610689">
                  <a:moveTo>
                    <a:pt x="20549" y="0"/>
                  </a:moveTo>
                  <a:lnTo>
                    <a:pt x="1212404" y="0"/>
                  </a:lnTo>
                  <a:cubicBezTo>
                    <a:pt x="1217854" y="0"/>
                    <a:pt x="1223080" y="2165"/>
                    <a:pt x="1226934" y="6019"/>
                  </a:cubicBezTo>
                  <a:cubicBezTo>
                    <a:pt x="1230788" y="9872"/>
                    <a:pt x="1232953" y="15099"/>
                    <a:pt x="1232953" y="20549"/>
                  </a:cubicBezTo>
                  <a:lnTo>
                    <a:pt x="1232953" y="590140"/>
                  </a:lnTo>
                  <a:cubicBezTo>
                    <a:pt x="1232953" y="595590"/>
                    <a:pt x="1230788" y="600816"/>
                    <a:pt x="1226934" y="604670"/>
                  </a:cubicBezTo>
                  <a:cubicBezTo>
                    <a:pt x="1223080" y="608524"/>
                    <a:pt x="1217854" y="610689"/>
                    <a:pt x="1212404" y="610689"/>
                  </a:cubicBezTo>
                  <a:lnTo>
                    <a:pt x="20549" y="610689"/>
                  </a:lnTo>
                  <a:cubicBezTo>
                    <a:pt x="15099" y="610689"/>
                    <a:pt x="9872" y="608524"/>
                    <a:pt x="6019" y="604670"/>
                  </a:cubicBezTo>
                  <a:cubicBezTo>
                    <a:pt x="2165" y="600816"/>
                    <a:pt x="0" y="595590"/>
                    <a:pt x="0" y="590140"/>
                  </a:cubicBezTo>
                  <a:lnTo>
                    <a:pt x="0" y="20549"/>
                  </a:lnTo>
                  <a:cubicBezTo>
                    <a:pt x="0" y="15099"/>
                    <a:pt x="2165" y="9872"/>
                    <a:pt x="6019" y="6019"/>
                  </a:cubicBezTo>
                  <a:cubicBezTo>
                    <a:pt x="9872" y="2165"/>
                    <a:pt x="15099" y="0"/>
                    <a:pt x="20549" y="0"/>
                  </a:cubicBezTo>
                  <a:close/>
                </a:path>
              </a:pathLst>
            </a:custGeom>
            <a:solidFill>
              <a:srgbClr val="EBECE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232953" cy="648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5400000">
            <a:off x="7842683" y="3305594"/>
            <a:ext cx="2978245" cy="504177"/>
            <a:chOff x="0" y="0"/>
            <a:chExt cx="3004843" cy="50868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04843" cy="508680"/>
            </a:xfrm>
            <a:custGeom>
              <a:avLst/>
              <a:gdLst/>
              <a:ahLst/>
              <a:cxnLst/>
              <a:rect l="l" t="t" r="r" b="b"/>
              <a:pathLst>
                <a:path w="3004843" h="508680">
                  <a:moveTo>
                    <a:pt x="2801643" y="0"/>
                  </a:moveTo>
                  <a:cubicBezTo>
                    <a:pt x="2913867" y="0"/>
                    <a:pt x="3004843" y="113872"/>
                    <a:pt x="3004843" y="254340"/>
                  </a:cubicBezTo>
                  <a:cubicBezTo>
                    <a:pt x="3004843" y="394808"/>
                    <a:pt x="2913867" y="508680"/>
                    <a:pt x="2801643" y="508680"/>
                  </a:cubicBezTo>
                  <a:lnTo>
                    <a:pt x="203200" y="508680"/>
                  </a:lnTo>
                  <a:cubicBezTo>
                    <a:pt x="90976" y="508680"/>
                    <a:pt x="0" y="394808"/>
                    <a:pt x="0" y="254340"/>
                  </a:cubicBezTo>
                  <a:cubicBezTo>
                    <a:pt x="0" y="113872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57150"/>
              <a:ext cx="3004843" cy="5658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206726" y="1600308"/>
            <a:ext cx="7343780" cy="3732172"/>
            <a:chOff x="0" y="0"/>
            <a:chExt cx="1201649" cy="6106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201649" cy="610689"/>
            </a:xfrm>
            <a:custGeom>
              <a:avLst/>
              <a:gdLst/>
              <a:ahLst/>
              <a:cxnLst/>
              <a:rect l="l" t="t" r="r" b="b"/>
              <a:pathLst>
                <a:path w="1201649" h="610689">
                  <a:moveTo>
                    <a:pt x="21084" y="0"/>
                  </a:moveTo>
                  <a:lnTo>
                    <a:pt x="1180565" y="0"/>
                  </a:lnTo>
                  <a:cubicBezTo>
                    <a:pt x="1192210" y="0"/>
                    <a:pt x="1201649" y="9440"/>
                    <a:pt x="1201649" y="21084"/>
                  </a:cubicBezTo>
                  <a:lnTo>
                    <a:pt x="1201649" y="589604"/>
                  </a:lnTo>
                  <a:cubicBezTo>
                    <a:pt x="1201649" y="601249"/>
                    <a:pt x="1192210" y="610689"/>
                    <a:pt x="1180565" y="610689"/>
                  </a:cubicBezTo>
                  <a:lnTo>
                    <a:pt x="21084" y="610689"/>
                  </a:lnTo>
                  <a:cubicBezTo>
                    <a:pt x="15492" y="610689"/>
                    <a:pt x="10130" y="608467"/>
                    <a:pt x="6175" y="604513"/>
                  </a:cubicBezTo>
                  <a:cubicBezTo>
                    <a:pt x="2221" y="600559"/>
                    <a:pt x="0" y="595196"/>
                    <a:pt x="0" y="589604"/>
                  </a:cubicBezTo>
                  <a:lnTo>
                    <a:pt x="0" y="21084"/>
                  </a:lnTo>
                  <a:cubicBezTo>
                    <a:pt x="0" y="9440"/>
                    <a:pt x="9440" y="0"/>
                    <a:pt x="21084" y="0"/>
                  </a:cubicBezTo>
                  <a:close/>
                </a:path>
              </a:pathLst>
            </a:custGeom>
            <a:solidFill>
              <a:srgbClr val="EBECEE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201649" cy="648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 rot="5400000">
            <a:off x="-501330" y="7387826"/>
            <a:ext cx="2978245" cy="402803"/>
            <a:chOff x="0" y="0"/>
            <a:chExt cx="3004843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04843" cy="406400"/>
            </a:xfrm>
            <a:custGeom>
              <a:avLst/>
              <a:gdLst/>
              <a:ahLst/>
              <a:cxnLst/>
              <a:rect l="l" t="t" r="r" b="b"/>
              <a:pathLst>
                <a:path w="3004843" h="406400">
                  <a:moveTo>
                    <a:pt x="2801643" y="0"/>
                  </a:moveTo>
                  <a:cubicBezTo>
                    <a:pt x="2913867" y="0"/>
                    <a:pt x="3004843" y="90976"/>
                    <a:pt x="3004843" y="203200"/>
                  </a:cubicBezTo>
                  <a:cubicBezTo>
                    <a:pt x="3004843" y="315424"/>
                    <a:pt x="2913867" y="406400"/>
                    <a:pt x="28016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57150"/>
              <a:ext cx="30048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22139" y="5674607"/>
            <a:ext cx="7535088" cy="3732172"/>
            <a:chOff x="0" y="0"/>
            <a:chExt cx="1232953" cy="61068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32953" cy="610689"/>
            </a:xfrm>
            <a:custGeom>
              <a:avLst/>
              <a:gdLst/>
              <a:ahLst/>
              <a:cxnLst/>
              <a:rect l="l" t="t" r="r" b="b"/>
              <a:pathLst>
                <a:path w="1232953" h="610689">
                  <a:moveTo>
                    <a:pt x="20549" y="0"/>
                  </a:moveTo>
                  <a:lnTo>
                    <a:pt x="1212404" y="0"/>
                  </a:lnTo>
                  <a:cubicBezTo>
                    <a:pt x="1217854" y="0"/>
                    <a:pt x="1223080" y="2165"/>
                    <a:pt x="1226934" y="6019"/>
                  </a:cubicBezTo>
                  <a:cubicBezTo>
                    <a:pt x="1230788" y="9872"/>
                    <a:pt x="1232953" y="15099"/>
                    <a:pt x="1232953" y="20549"/>
                  </a:cubicBezTo>
                  <a:lnTo>
                    <a:pt x="1232953" y="590140"/>
                  </a:lnTo>
                  <a:cubicBezTo>
                    <a:pt x="1232953" y="595590"/>
                    <a:pt x="1230788" y="600816"/>
                    <a:pt x="1226934" y="604670"/>
                  </a:cubicBezTo>
                  <a:cubicBezTo>
                    <a:pt x="1223080" y="608524"/>
                    <a:pt x="1217854" y="610689"/>
                    <a:pt x="1212404" y="610689"/>
                  </a:cubicBezTo>
                  <a:lnTo>
                    <a:pt x="20549" y="610689"/>
                  </a:lnTo>
                  <a:cubicBezTo>
                    <a:pt x="15099" y="610689"/>
                    <a:pt x="9872" y="608524"/>
                    <a:pt x="6019" y="604670"/>
                  </a:cubicBezTo>
                  <a:cubicBezTo>
                    <a:pt x="2165" y="600816"/>
                    <a:pt x="0" y="595590"/>
                    <a:pt x="0" y="590140"/>
                  </a:cubicBezTo>
                  <a:lnTo>
                    <a:pt x="0" y="20549"/>
                  </a:lnTo>
                  <a:cubicBezTo>
                    <a:pt x="0" y="15099"/>
                    <a:pt x="2165" y="9872"/>
                    <a:pt x="6019" y="6019"/>
                  </a:cubicBezTo>
                  <a:cubicBezTo>
                    <a:pt x="9872" y="2165"/>
                    <a:pt x="15099" y="0"/>
                    <a:pt x="20549" y="0"/>
                  </a:cubicBezTo>
                  <a:close/>
                </a:path>
              </a:pathLst>
            </a:custGeom>
            <a:solidFill>
              <a:srgbClr val="EBECEE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232953" cy="648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5400000">
            <a:off x="7659881" y="7387826"/>
            <a:ext cx="2978245" cy="402803"/>
            <a:chOff x="0" y="0"/>
            <a:chExt cx="3004843" cy="4064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04843" cy="406400"/>
            </a:xfrm>
            <a:custGeom>
              <a:avLst/>
              <a:gdLst/>
              <a:ahLst/>
              <a:cxnLst/>
              <a:rect l="l" t="t" r="r" b="b"/>
              <a:pathLst>
                <a:path w="3004843" h="406400">
                  <a:moveTo>
                    <a:pt x="2801643" y="0"/>
                  </a:moveTo>
                  <a:cubicBezTo>
                    <a:pt x="2913867" y="0"/>
                    <a:pt x="3004843" y="90976"/>
                    <a:pt x="3004843" y="203200"/>
                  </a:cubicBezTo>
                  <a:cubicBezTo>
                    <a:pt x="3004843" y="315424"/>
                    <a:pt x="2913867" y="406400"/>
                    <a:pt x="2801643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7B80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57150"/>
              <a:ext cx="3004843" cy="463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0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083350" y="5674607"/>
            <a:ext cx="7535088" cy="3732172"/>
            <a:chOff x="0" y="0"/>
            <a:chExt cx="1232953" cy="6106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232953" cy="610689"/>
            </a:xfrm>
            <a:custGeom>
              <a:avLst/>
              <a:gdLst/>
              <a:ahLst/>
              <a:cxnLst/>
              <a:rect l="l" t="t" r="r" b="b"/>
              <a:pathLst>
                <a:path w="1232953" h="610689">
                  <a:moveTo>
                    <a:pt x="20549" y="0"/>
                  </a:moveTo>
                  <a:lnTo>
                    <a:pt x="1212404" y="0"/>
                  </a:lnTo>
                  <a:cubicBezTo>
                    <a:pt x="1217854" y="0"/>
                    <a:pt x="1223080" y="2165"/>
                    <a:pt x="1226934" y="6019"/>
                  </a:cubicBezTo>
                  <a:cubicBezTo>
                    <a:pt x="1230788" y="9872"/>
                    <a:pt x="1232953" y="15099"/>
                    <a:pt x="1232953" y="20549"/>
                  </a:cubicBezTo>
                  <a:lnTo>
                    <a:pt x="1232953" y="590140"/>
                  </a:lnTo>
                  <a:cubicBezTo>
                    <a:pt x="1232953" y="595590"/>
                    <a:pt x="1230788" y="600816"/>
                    <a:pt x="1226934" y="604670"/>
                  </a:cubicBezTo>
                  <a:cubicBezTo>
                    <a:pt x="1223080" y="608524"/>
                    <a:pt x="1217854" y="610689"/>
                    <a:pt x="1212404" y="610689"/>
                  </a:cubicBezTo>
                  <a:lnTo>
                    <a:pt x="20549" y="610689"/>
                  </a:lnTo>
                  <a:cubicBezTo>
                    <a:pt x="15099" y="610689"/>
                    <a:pt x="9872" y="608524"/>
                    <a:pt x="6019" y="604670"/>
                  </a:cubicBezTo>
                  <a:cubicBezTo>
                    <a:pt x="2165" y="600816"/>
                    <a:pt x="0" y="595590"/>
                    <a:pt x="0" y="590140"/>
                  </a:cubicBezTo>
                  <a:lnTo>
                    <a:pt x="0" y="20549"/>
                  </a:lnTo>
                  <a:cubicBezTo>
                    <a:pt x="0" y="15099"/>
                    <a:pt x="2165" y="9872"/>
                    <a:pt x="6019" y="6019"/>
                  </a:cubicBezTo>
                  <a:cubicBezTo>
                    <a:pt x="9872" y="2165"/>
                    <a:pt x="15099" y="0"/>
                    <a:pt x="20549" y="0"/>
                  </a:cubicBezTo>
                  <a:close/>
                </a:path>
              </a:pathLst>
            </a:custGeom>
            <a:solidFill>
              <a:srgbClr val="EBECEE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232953" cy="648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55414" y="6274777"/>
            <a:ext cx="6886526" cy="2567226"/>
          </a:xfrm>
          <a:custGeom>
            <a:avLst/>
            <a:gdLst/>
            <a:ahLst/>
            <a:cxnLst/>
            <a:rect l="l" t="t" r="r" b="b"/>
            <a:pathLst>
              <a:path w="6886526" h="2567226">
                <a:moveTo>
                  <a:pt x="0" y="0"/>
                </a:moveTo>
                <a:lnTo>
                  <a:pt x="6886525" y="0"/>
                </a:lnTo>
                <a:lnTo>
                  <a:pt x="6886525" y="2567227"/>
                </a:lnTo>
                <a:lnTo>
                  <a:pt x="0" y="25672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984" b="-34889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1189194" y="1713242"/>
            <a:ext cx="6975150" cy="39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42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WHO FACES THIS?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89194" y="2242571"/>
            <a:ext cx="6975150" cy="2937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sz="210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Citizens are the first victims of manipulated media.</a:t>
            </a:r>
          </a:p>
          <a:p>
            <a:pPr marL="453981" lvl="1" indent="-226991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Social media users</a:t>
            </a:r>
          </a:p>
          <a:p>
            <a:pPr marL="453981" lvl="1" indent="-226991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Journalists &amp; fact-checkers</a:t>
            </a:r>
          </a:p>
          <a:p>
            <a:pPr marL="453981" lvl="1" indent="-226991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Students &amp; educators</a:t>
            </a:r>
          </a:p>
          <a:p>
            <a:pPr marL="453981" lvl="1" indent="-226991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Government &amp; public institutions</a:t>
            </a:r>
          </a:p>
          <a:p>
            <a:pPr marL="453981" lvl="1" indent="-226991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Anyone consuming digital content</a:t>
            </a:r>
          </a:p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sz="210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insight: People can no longer reliably distinguish authentic media from AI-generated content.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29811" y="1748629"/>
            <a:ext cx="6398251" cy="39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42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CURRENT GAP IN THE SYSTEM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22139" y="5834580"/>
            <a:ext cx="7352665" cy="39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42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HOW WE FILL 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16987" y="5825577"/>
            <a:ext cx="7267813" cy="399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94"/>
              </a:lnSpc>
              <a:spcBef>
                <a:spcPct val="0"/>
              </a:spcBef>
            </a:pPr>
            <a:r>
              <a:rPr lang="en-US" sz="2424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ALIGNS WITH INDIA'S DIGITAL ECOSYSTEM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331806" y="6322197"/>
            <a:ext cx="7585447" cy="256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sz="210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SatyaKavach supports responsible AI adoption</a:t>
            </a:r>
          </a:p>
          <a:p>
            <a:pPr marL="453898" lvl="1" indent="-226949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MeitY initiatives on trustworthy AI</a:t>
            </a:r>
          </a:p>
          <a:p>
            <a:pPr marL="453898" lvl="1" indent="-226949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Digital India mission</a:t>
            </a:r>
          </a:p>
          <a:p>
            <a:pPr marL="453898" lvl="1" indent="-226949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Citizen awareness against misinformation</a:t>
            </a:r>
          </a:p>
          <a:p>
            <a:pPr marL="453898" lvl="1" indent="-226949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Media authenticity verification</a:t>
            </a:r>
          </a:p>
          <a:p>
            <a:pPr marL="453898" lvl="1" indent="-226949" algn="l">
              <a:lnSpc>
                <a:spcPts val="2943"/>
              </a:lnSpc>
              <a:buFont typeface="Arial"/>
              <a:buChar char="•"/>
            </a:pPr>
            <a:r>
              <a:rPr lang="en-US" sz="2102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Explainable AI for public trust</a:t>
            </a:r>
          </a:p>
          <a:p>
            <a:pPr algn="l">
              <a:lnSpc>
                <a:spcPts val="2943"/>
              </a:lnSpc>
              <a:spcBef>
                <a:spcPct val="0"/>
              </a:spcBef>
            </a:pPr>
            <a:r>
              <a:rPr lang="en-US" sz="210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Complements existing digital trust initiatives.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47514" y="2242571"/>
            <a:ext cx="6837286" cy="293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Today's detection ecosystem is fragmented.</a:t>
            </a:r>
          </a:p>
          <a:p>
            <a:pPr marL="453047" lvl="1" indent="-226524" algn="l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Image tools → Image analysis only</a:t>
            </a:r>
          </a:p>
          <a:p>
            <a:pPr marL="453047" lvl="1" indent="-226524" algn="l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Video tools → Video verification only</a:t>
            </a:r>
          </a:p>
          <a:p>
            <a:pPr marL="453047" lvl="1" indent="-226524" algn="l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Audio tools → Voice cloning detection</a:t>
            </a:r>
          </a:p>
          <a:p>
            <a:pPr marL="453047" lvl="1" indent="-226524" algn="l">
              <a:lnSpc>
                <a:spcPts val="2937"/>
              </a:lnSpc>
              <a:buFont typeface="Arial"/>
              <a:buChar char="•"/>
            </a:pPr>
            <a:r>
              <a:rPr lang="en-US" sz="2098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models → Difficult for citizens to use</a:t>
            </a:r>
          </a:p>
          <a:p>
            <a:pPr algn="l">
              <a:lnSpc>
                <a:spcPts val="2937"/>
              </a:lnSpc>
              <a:spcBef>
                <a:spcPct val="0"/>
              </a:spcBef>
            </a:pPr>
            <a:endParaRPr lang="en-US" sz="2098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algn="l">
              <a:lnSpc>
                <a:spcPts val="2937"/>
              </a:lnSpc>
              <a:spcBef>
                <a:spcPct val="0"/>
              </a:spcBef>
            </a:pPr>
            <a:r>
              <a:rPr lang="en-US" sz="209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gap: Users need one simple platform that can verify images, videos, and audio with explainable results.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89194" y="8882386"/>
            <a:ext cx="6952746" cy="353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3"/>
              </a:lnSpc>
              <a:spcBef>
                <a:spcPct val="0"/>
              </a:spcBef>
            </a:pPr>
            <a:r>
              <a:rPr lang="en-US" sz="210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One Unified Media Verification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1478756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04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6003489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OUR SOLUTION — NOW BUILT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80915" y="1386698"/>
            <a:ext cx="7389586" cy="3173050"/>
            <a:chOff x="0" y="0"/>
            <a:chExt cx="2115470" cy="9083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15470" cy="908372"/>
            </a:xfrm>
            <a:custGeom>
              <a:avLst/>
              <a:gdLst/>
              <a:ahLst/>
              <a:cxnLst/>
              <a:rect l="l" t="t" r="r" b="b"/>
              <a:pathLst>
                <a:path w="2115470" h="908372">
                  <a:moveTo>
                    <a:pt x="35621" y="0"/>
                  </a:moveTo>
                  <a:lnTo>
                    <a:pt x="2079849" y="0"/>
                  </a:lnTo>
                  <a:cubicBezTo>
                    <a:pt x="2089297" y="0"/>
                    <a:pt x="2098357" y="3753"/>
                    <a:pt x="2105037" y="10433"/>
                  </a:cubicBezTo>
                  <a:cubicBezTo>
                    <a:pt x="2111718" y="17113"/>
                    <a:pt x="2115470" y="26174"/>
                    <a:pt x="2115470" y="35621"/>
                  </a:cubicBezTo>
                  <a:lnTo>
                    <a:pt x="2115470" y="872751"/>
                  </a:lnTo>
                  <a:cubicBezTo>
                    <a:pt x="2115470" y="882198"/>
                    <a:pt x="2111718" y="891259"/>
                    <a:pt x="2105037" y="897939"/>
                  </a:cubicBezTo>
                  <a:cubicBezTo>
                    <a:pt x="2098357" y="904619"/>
                    <a:pt x="2089297" y="908372"/>
                    <a:pt x="2079849" y="908372"/>
                  </a:cubicBezTo>
                  <a:lnTo>
                    <a:pt x="35621" y="908372"/>
                  </a:lnTo>
                  <a:cubicBezTo>
                    <a:pt x="26174" y="908372"/>
                    <a:pt x="17113" y="904619"/>
                    <a:pt x="10433" y="897939"/>
                  </a:cubicBezTo>
                  <a:cubicBezTo>
                    <a:pt x="3753" y="891259"/>
                    <a:pt x="0" y="882198"/>
                    <a:pt x="0" y="872751"/>
                  </a:cubicBezTo>
                  <a:lnTo>
                    <a:pt x="0" y="35621"/>
                  </a:lnTo>
                  <a:cubicBezTo>
                    <a:pt x="0" y="26174"/>
                    <a:pt x="3753" y="17113"/>
                    <a:pt x="10433" y="10433"/>
                  </a:cubicBezTo>
                  <a:cubicBezTo>
                    <a:pt x="17113" y="3753"/>
                    <a:pt x="26174" y="0"/>
                    <a:pt x="35621" y="0"/>
                  </a:cubicBezTo>
                  <a:close/>
                </a:path>
              </a:pathLst>
            </a:custGeom>
            <a:solidFill>
              <a:srgbClr val="F3F3F5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15470" cy="9369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39591" y="1118673"/>
            <a:ext cx="536049" cy="536049"/>
            <a:chOff x="0" y="0"/>
            <a:chExt cx="163898" cy="16389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3898" cy="163898"/>
            </a:xfrm>
            <a:custGeom>
              <a:avLst/>
              <a:gdLst/>
              <a:ahLst/>
              <a:cxnLst/>
              <a:rect l="l" t="t" r="r" b="b"/>
              <a:pathLst>
                <a:path w="163898" h="163898">
                  <a:moveTo>
                    <a:pt x="81949" y="0"/>
                  </a:moveTo>
                  <a:lnTo>
                    <a:pt x="81949" y="0"/>
                  </a:lnTo>
                  <a:cubicBezTo>
                    <a:pt x="127208" y="0"/>
                    <a:pt x="163898" y="36690"/>
                    <a:pt x="163898" y="81949"/>
                  </a:cubicBezTo>
                  <a:lnTo>
                    <a:pt x="163898" y="81949"/>
                  </a:lnTo>
                  <a:cubicBezTo>
                    <a:pt x="163898" y="127208"/>
                    <a:pt x="127208" y="163898"/>
                    <a:pt x="81949" y="163898"/>
                  </a:cubicBezTo>
                  <a:lnTo>
                    <a:pt x="81949" y="163898"/>
                  </a:lnTo>
                  <a:cubicBezTo>
                    <a:pt x="36690" y="163898"/>
                    <a:pt x="0" y="127208"/>
                    <a:pt x="0" y="81949"/>
                  </a:cubicBezTo>
                  <a:lnTo>
                    <a:pt x="0" y="81949"/>
                  </a:lnTo>
                  <a:cubicBezTo>
                    <a:pt x="0" y="36690"/>
                    <a:pt x="36690" y="0"/>
                    <a:pt x="81949" y="0"/>
                  </a:cubicBezTo>
                  <a:close/>
                </a:path>
              </a:pathLst>
            </a:custGeom>
            <a:solidFill>
              <a:srgbClr val="A6DF19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3898" cy="20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06749" y="4942109"/>
            <a:ext cx="15506679" cy="2185181"/>
            <a:chOff x="0" y="0"/>
            <a:chExt cx="4166519" cy="58714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166519" cy="587141"/>
            </a:xfrm>
            <a:custGeom>
              <a:avLst/>
              <a:gdLst/>
              <a:ahLst/>
              <a:cxnLst/>
              <a:rect l="l" t="t" r="r" b="b"/>
              <a:pathLst>
                <a:path w="4166519" h="587141">
                  <a:moveTo>
                    <a:pt x="16975" y="0"/>
                  </a:moveTo>
                  <a:lnTo>
                    <a:pt x="4149544" y="0"/>
                  </a:lnTo>
                  <a:cubicBezTo>
                    <a:pt x="4158919" y="0"/>
                    <a:pt x="4166519" y="7600"/>
                    <a:pt x="4166519" y="16975"/>
                  </a:cubicBezTo>
                  <a:lnTo>
                    <a:pt x="4166519" y="570166"/>
                  </a:lnTo>
                  <a:cubicBezTo>
                    <a:pt x="4166519" y="579541"/>
                    <a:pt x="4158919" y="587141"/>
                    <a:pt x="4149544" y="587141"/>
                  </a:cubicBezTo>
                  <a:lnTo>
                    <a:pt x="16975" y="587141"/>
                  </a:lnTo>
                  <a:cubicBezTo>
                    <a:pt x="7600" y="587141"/>
                    <a:pt x="0" y="579541"/>
                    <a:pt x="0" y="570166"/>
                  </a:cubicBezTo>
                  <a:lnTo>
                    <a:pt x="0" y="16975"/>
                  </a:lnTo>
                  <a:cubicBezTo>
                    <a:pt x="0" y="7600"/>
                    <a:pt x="7600" y="0"/>
                    <a:pt x="16975" y="0"/>
                  </a:cubicBezTo>
                  <a:close/>
                </a:path>
              </a:pathLst>
            </a:custGeom>
            <a:solidFill>
              <a:srgbClr val="EBECEE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4166519" cy="6157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9591" y="4686102"/>
            <a:ext cx="571132" cy="571132"/>
            <a:chOff x="0" y="0"/>
            <a:chExt cx="163898" cy="16389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3898" cy="163898"/>
            </a:xfrm>
            <a:custGeom>
              <a:avLst/>
              <a:gdLst/>
              <a:ahLst/>
              <a:cxnLst/>
              <a:rect l="l" t="t" r="r" b="b"/>
              <a:pathLst>
                <a:path w="163898" h="163898">
                  <a:moveTo>
                    <a:pt x="81949" y="0"/>
                  </a:moveTo>
                  <a:lnTo>
                    <a:pt x="81949" y="0"/>
                  </a:lnTo>
                  <a:cubicBezTo>
                    <a:pt x="127208" y="0"/>
                    <a:pt x="163898" y="36690"/>
                    <a:pt x="163898" y="81949"/>
                  </a:cubicBezTo>
                  <a:lnTo>
                    <a:pt x="163898" y="81949"/>
                  </a:lnTo>
                  <a:cubicBezTo>
                    <a:pt x="163898" y="127208"/>
                    <a:pt x="127208" y="163898"/>
                    <a:pt x="81949" y="163898"/>
                  </a:cubicBezTo>
                  <a:lnTo>
                    <a:pt x="81949" y="163898"/>
                  </a:lnTo>
                  <a:cubicBezTo>
                    <a:pt x="36690" y="163898"/>
                    <a:pt x="0" y="127208"/>
                    <a:pt x="0" y="81949"/>
                  </a:cubicBezTo>
                  <a:lnTo>
                    <a:pt x="0" y="81949"/>
                  </a:lnTo>
                  <a:cubicBezTo>
                    <a:pt x="0" y="36690"/>
                    <a:pt x="36690" y="0"/>
                    <a:pt x="81949" y="0"/>
                  </a:cubicBezTo>
                  <a:close/>
                </a:path>
              </a:pathLst>
            </a:custGeom>
            <a:solidFill>
              <a:srgbClr val="00CD91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3898" cy="20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545353" y="5388061"/>
            <a:ext cx="3474833" cy="1638614"/>
            <a:chOff x="0" y="0"/>
            <a:chExt cx="933659" cy="44028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33659" cy="440282"/>
            </a:xfrm>
            <a:custGeom>
              <a:avLst/>
              <a:gdLst/>
              <a:ahLst/>
              <a:cxnLst/>
              <a:rect l="l" t="t" r="r" b="b"/>
              <a:pathLst>
                <a:path w="933659" h="440282">
                  <a:moveTo>
                    <a:pt x="75752" y="0"/>
                  </a:moveTo>
                  <a:lnTo>
                    <a:pt x="857907" y="0"/>
                  </a:lnTo>
                  <a:cubicBezTo>
                    <a:pt x="877998" y="0"/>
                    <a:pt x="897266" y="7981"/>
                    <a:pt x="911472" y="22187"/>
                  </a:cubicBezTo>
                  <a:cubicBezTo>
                    <a:pt x="925678" y="36393"/>
                    <a:pt x="933659" y="55661"/>
                    <a:pt x="933659" y="75752"/>
                  </a:cubicBezTo>
                  <a:lnTo>
                    <a:pt x="933659" y="364530"/>
                  </a:lnTo>
                  <a:cubicBezTo>
                    <a:pt x="933659" y="384621"/>
                    <a:pt x="925678" y="403889"/>
                    <a:pt x="911472" y="418095"/>
                  </a:cubicBezTo>
                  <a:cubicBezTo>
                    <a:pt x="897266" y="432301"/>
                    <a:pt x="877998" y="440282"/>
                    <a:pt x="857907" y="440282"/>
                  </a:cubicBezTo>
                  <a:lnTo>
                    <a:pt x="75752" y="440282"/>
                  </a:lnTo>
                  <a:cubicBezTo>
                    <a:pt x="55661" y="440282"/>
                    <a:pt x="36393" y="432301"/>
                    <a:pt x="22187" y="418095"/>
                  </a:cubicBezTo>
                  <a:cubicBezTo>
                    <a:pt x="7981" y="403889"/>
                    <a:pt x="0" y="384621"/>
                    <a:pt x="0" y="364530"/>
                  </a:cubicBezTo>
                  <a:lnTo>
                    <a:pt x="0" y="75752"/>
                  </a:lnTo>
                  <a:cubicBezTo>
                    <a:pt x="0" y="55661"/>
                    <a:pt x="7981" y="36393"/>
                    <a:pt x="22187" y="22187"/>
                  </a:cubicBezTo>
                  <a:cubicBezTo>
                    <a:pt x="36393" y="7981"/>
                    <a:pt x="55661" y="0"/>
                    <a:pt x="757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933659" cy="4688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319409" y="5429903"/>
            <a:ext cx="3474833" cy="1600945"/>
            <a:chOff x="0" y="0"/>
            <a:chExt cx="933659" cy="43016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33659" cy="430161"/>
            </a:xfrm>
            <a:custGeom>
              <a:avLst/>
              <a:gdLst/>
              <a:ahLst/>
              <a:cxnLst/>
              <a:rect l="l" t="t" r="r" b="b"/>
              <a:pathLst>
                <a:path w="933659" h="430161">
                  <a:moveTo>
                    <a:pt x="75752" y="0"/>
                  </a:moveTo>
                  <a:lnTo>
                    <a:pt x="857907" y="0"/>
                  </a:lnTo>
                  <a:cubicBezTo>
                    <a:pt x="877998" y="0"/>
                    <a:pt x="897266" y="7981"/>
                    <a:pt x="911472" y="22187"/>
                  </a:cubicBezTo>
                  <a:cubicBezTo>
                    <a:pt x="925678" y="36393"/>
                    <a:pt x="933659" y="55661"/>
                    <a:pt x="933659" y="75752"/>
                  </a:cubicBezTo>
                  <a:lnTo>
                    <a:pt x="933659" y="354409"/>
                  </a:lnTo>
                  <a:cubicBezTo>
                    <a:pt x="933659" y="374500"/>
                    <a:pt x="925678" y="393767"/>
                    <a:pt x="911472" y="407974"/>
                  </a:cubicBezTo>
                  <a:cubicBezTo>
                    <a:pt x="897266" y="422180"/>
                    <a:pt x="877998" y="430161"/>
                    <a:pt x="857907" y="430161"/>
                  </a:cubicBezTo>
                  <a:lnTo>
                    <a:pt x="75752" y="430161"/>
                  </a:lnTo>
                  <a:cubicBezTo>
                    <a:pt x="55661" y="430161"/>
                    <a:pt x="36393" y="422180"/>
                    <a:pt x="22187" y="407974"/>
                  </a:cubicBezTo>
                  <a:cubicBezTo>
                    <a:pt x="7981" y="393767"/>
                    <a:pt x="0" y="374500"/>
                    <a:pt x="0" y="354409"/>
                  </a:cubicBezTo>
                  <a:lnTo>
                    <a:pt x="0" y="75752"/>
                  </a:lnTo>
                  <a:cubicBezTo>
                    <a:pt x="0" y="55661"/>
                    <a:pt x="7981" y="36393"/>
                    <a:pt x="22187" y="22187"/>
                  </a:cubicBezTo>
                  <a:cubicBezTo>
                    <a:pt x="36393" y="7981"/>
                    <a:pt x="55661" y="0"/>
                    <a:pt x="757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933659" cy="4587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92096" y="5429903"/>
            <a:ext cx="3474833" cy="1596772"/>
            <a:chOff x="0" y="0"/>
            <a:chExt cx="933659" cy="4290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33659" cy="429040"/>
            </a:xfrm>
            <a:custGeom>
              <a:avLst/>
              <a:gdLst/>
              <a:ahLst/>
              <a:cxnLst/>
              <a:rect l="l" t="t" r="r" b="b"/>
              <a:pathLst>
                <a:path w="933659" h="429040">
                  <a:moveTo>
                    <a:pt x="75752" y="0"/>
                  </a:moveTo>
                  <a:lnTo>
                    <a:pt x="857907" y="0"/>
                  </a:lnTo>
                  <a:cubicBezTo>
                    <a:pt x="877998" y="0"/>
                    <a:pt x="897266" y="7981"/>
                    <a:pt x="911472" y="22187"/>
                  </a:cubicBezTo>
                  <a:cubicBezTo>
                    <a:pt x="925678" y="36393"/>
                    <a:pt x="933659" y="55661"/>
                    <a:pt x="933659" y="75752"/>
                  </a:cubicBezTo>
                  <a:lnTo>
                    <a:pt x="933659" y="353288"/>
                  </a:lnTo>
                  <a:cubicBezTo>
                    <a:pt x="933659" y="373378"/>
                    <a:pt x="925678" y="392646"/>
                    <a:pt x="911472" y="406852"/>
                  </a:cubicBezTo>
                  <a:cubicBezTo>
                    <a:pt x="897266" y="421059"/>
                    <a:pt x="877998" y="429040"/>
                    <a:pt x="857907" y="429040"/>
                  </a:cubicBezTo>
                  <a:lnTo>
                    <a:pt x="75752" y="429040"/>
                  </a:lnTo>
                  <a:cubicBezTo>
                    <a:pt x="55661" y="429040"/>
                    <a:pt x="36393" y="421059"/>
                    <a:pt x="22187" y="406852"/>
                  </a:cubicBezTo>
                  <a:cubicBezTo>
                    <a:pt x="7981" y="392646"/>
                    <a:pt x="0" y="373378"/>
                    <a:pt x="0" y="353288"/>
                  </a:cubicBezTo>
                  <a:lnTo>
                    <a:pt x="0" y="75752"/>
                  </a:lnTo>
                  <a:cubicBezTo>
                    <a:pt x="0" y="55661"/>
                    <a:pt x="7981" y="36393"/>
                    <a:pt x="22187" y="22187"/>
                  </a:cubicBezTo>
                  <a:cubicBezTo>
                    <a:pt x="36393" y="7981"/>
                    <a:pt x="55661" y="0"/>
                    <a:pt x="757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933659" cy="45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946885" y="5429903"/>
            <a:ext cx="3474833" cy="1596772"/>
            <a:chOff x="0" y="0"/>
            <a:chExt cx="933659" cy="42904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33659" cy="429040"/>
            </a:xfrm>
            <a:custGeom>
              <a:avLst/>
              <a:gdLst/>
              <a:ahLst/>
              <a:cxnLst/>
              <a:rect l="l" t="t" r="r" b="b"/>
              <a:pathLst>
                <a:path w="933659" h="429040">
                  <a:moveTo>
                    <a:pt x="75752" y="0"/>
                  </a:moveTo>
                  <a:lnTo>
                    <a:pt x="857907" y="0"/>
                  </a:lnTo>
                  <a:cubicBezTo>
                    <a:pt x="877998" y="0"/>
                    <a:pt x="897266" y="7981"/>
                    <a:pt x="911472" y="22187"/>
                  </a:cubicBezTo>
                  <a:cubicBezTo>
                    <a:pt x="925678" y="36393"/>
                    <a:pt x="933659" y="55661"/>
                    <a:pt x="933659" y="75752"/>
                  </a:cubicBezTo>
                  <a:lnTo>
                    <a:pt x="933659" y="353288"/>
                  </a:lnTo>
                  <a:cubicBezTo>
                    <a:pt x="933659" y="373378"/>
                    <a:pt x="925678" y="392646"/>
                    <a:pt x="911472" y="406852"/>
                  </a:cubicBezTo>
                  <a:cubicBezTo>
                    <a:pt x="897266" y="421059"/>
                    <a:pt x="877998" y="429040"/>
                    <a:pt x="857907" y="429040"/>
                  </a:cubicBezTo>
                  <a:lnTo>
                    <a:pt x="75752" y="429040"/>
                  </a:lnTo>
                  <a:cubicBezTo>
                    <a:pt x="55661" y="429040"/>
                    <a:pt x="36393" y="421059"/>
                    <a:pt x="22187" y="406852"/>
                  </a:cubicBezTo>
                  <a:cubicBezTo>
                    <a:pt x="7981" y="392646"/>
                    <a:pt x="0" y="373378"/>
                    <a:pt x="0" y="353288"/>
                  </a:cubicBezTo>
                  <a:lnTo>
                    <a:pt x="0" y="75752"/>
                  </a:lnTo>
                  <a:cubicBezTo>
                    <a:pt x="0" y="55661"/>
                    <a:pt x="7981" y="36393"/>
                    <a:pt x="22187" y="22187"/>
                  </a:cubicBezTo>
                  <a:cubicBezTo>
                    <a:pt x="36393" y="7981"/>
                    <a:pt x="55661" y="0"/>
                    <a:pt x="7575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28575"/>
              <a:ext cx="933659" cy="457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1194" y="7220909"/>
            <a:ext cx="584707" cy="584707"/>
            <a:chOff x="0" y="0"/>
            <a:chExt cx="163898" cy="16389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3898" cy="163898"/>
            </a:xfrm>
            <a:custGeom>
              <a:avLst/>
              <a:gdLst/>
              <a:ahLst/>
              <a:cxnLst/>
              <a:rect l="l" t="t" r="r" b="b"/>
              <a:pathLst>
                <a:path w="163898" h="163898">
                  <a:moveTo>
                    <a:pt x="81949" y="0"/>
                  </a:moveTo>
                  <a:lnTo>
                    <a:pt x="81949" y="0"/>
                  </a:lnTo>
                  <a:cubicBezTo>
                    <a:pt x="127208" y="0"/>
                    <a:pt x="163898" y="36690"/>
                    <a:pt x="163898" y="81949"/>
                  </a:cubicBezTo>
                  <a:lnTo>
                    <a:pt x="163898" y="81949"/>
                  </a:lnTo>
                  <a:cubicBezTo>
                    <a:pt x="163898" y="127208"/>
                    <a:pt x="127208" y="163898"/>
                    <a:pt x="81949" y="163898"/>
                  </a:cubicBezTo>
                  <a:lnTo>
                    <a:pt x="81949" y="163898"/>
                  </a:lnTo>
                  <a:cubicBezTo>
                    <a:pt x="36690" y="163898"/>
                    <a:pt x="0" y="127208"/>
                    <a:pt x="0" y="81949"/>
                  </a:cubicBezTo>
                  <a:lnTo>
                    <a:pt x="0" y="81949"/>
                  </a:lnTo>
                  <a:cubicBezTo>
                    <a:pt x="0" y="36690"/>
                    <a:pt x="36690" y="0"/>
                    <a:pt x="81949" y="0"/>
                  </a:cubicBezTo>
                  <a:close/>
                </a:path>
              </a:pathLst>
            </a:custGeom>
            <a:solidFill>
              <a:srgbClr val="0199CA"/>
            </a:solidFill>
            <a:ln w="571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3898" cy="201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TT Fors Bold"/>
                  <a:ea typeface="TT Fors Bold"/>
                  <a:cs typeface="TT Fors Bold"/>
                  <a:sym typeface="TT Fors Bold"/>
                </a:rPr>
                <a:t>03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561777" y="7935092"/>
            <a:ext cx="8376187" cy="1433509"/>
            <a:chOff x="0" y="0"/>
            <a:chExt cx="5085896" cy="870405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085896" cy="870405"/>
            </a:xfrm>
            <a:custGeom>
              <a:avLst/>
              <a:gdLst/>
              <a:ahLst/>
              <a:cxnLst/>
              <a:rect l="l" t="t" r="r" b="b"/>
              <a:pathLst>
                <a:path w="5085896" h="870405">
                  <a:moveTo>
                    <a:pt x="29577" y="0"/>
                  </a:moveTo>
                  <a:lnTo>
                    <a:pt x="5056319" y="0"/>
                  </a:lnTo>
                  <a:cubicBezTo>
                    <a:pt x="5064163" y="0"/>
                    <a:pt x="5071687" y="3116"/>
                    <a:pt x="5077233" y="8663"/>
                  </a:cubicBezTo>
                  <a:cubicBezTo>
                    <a:pt x="5082780" y="14210"/>
                    <a:pt x="5085896" y="21733"/>
                    <a:pt x="5085896" y="29577"/>
                  </a:cubicBezTo>
                  <a:lnTo>
                    <a:pt x="5085896" y="840829"/>
                  </a:lnTo>
                  <a:cubicBezTo>
                    <a:pt x="5085896" y="857163"/>
                    <a:pt x="5072654" y="870405"/>
                    <a:pt x="5056319" y="870405"/>
                  </a:cubicBezTo>
                  <a:lnTo>
                    <a:pt x="29577" y="870405"/>
                  </a:lnTo>
                  <a:cubicBezTo>
                    <a:pt x="21733" y="870405"/>
                    <a:pt x="14210" y="867289"/>
                    <a:pt x="8663" y="861743"/>
                  </a:cubicBezTo>
                  <a:cubicBezTo>
                    <a:pt x="3116" y="856196"/>
                    <a:pt x="0" y="848673"/>
                    <a:pt x="0" y="840829"/>
                  </a:cubicBezTo>
                  <a:lnTo>
                    <a:pt x="0" y="29577"/>
                  </a:lnTo>
                  <a:cubicBezTo>
                    <a:pt x="0" y="13242"/>
                    <a:pt x="13242" y="0"/>
                    <a:pt x="29577" y="0"/>
                  </a:cubicBezTo>
                  <a:close/>
                </a:path>
              </a:pathLst>
            </a:custGeom>
            <a:solidFill>
              <a:srgbClr val="173984"/>
            </a:solidFill>
            <a:ln cap="rnd">
              <a:noFill/>
              <a:prstDash val="solid"/>
              <a:round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47625"/>
              <a:ext cx="5085896" cy="9180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0040071" y="7987438"/>
            <a:ext cx="2102437" cy="1381162"/>
            <a:chOff x="0" y="0"/>
            <a:chExt cx="903520" cy="59355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03520" cy="593553"/>
            </a:xfrm>
            <a:custGeom>
              <a:avLst/>
              <a:gdLst/>
              <a:ahLst/>
              <a:cxnLst/>
              <a:rect l="l" t="t" r="r" b="b"/>
              <a:pathLst>
                <a:path w="903520" h="593553">
                  <a:moveTo>
                    <a:pt x="92059" y="0"/>
                  </a:moveTo>
                  <a:lnTo>
                    <a:pt x="811461" y="0"/>
                  </a:lnTo>
                  <a:cubicBezTo>
                    <a:pt x="835877" y="0"/>
                    <a:pt x="859292" y="9699"/>
                    <a:pt x="876556" y="26963"/>
                  </a:cubicBezTo>
                  <a:cubicBezTo>
                    <a:pt x="893821" y="44228"/>
                    <a:pt x="903520" y="67643"/>
                    <a:pt x="903520" y="92059"/>
                  </a:cubicBezTo>
                  <a:lnTo>
                    <a:pt x="903520" y="501494"/>
                  </a:lnTo>
                  <a:cubicBezTo>
                    <a:pt x="903520" y="525910"/>
                    <a:pt x="893821" y="549325"/>
                    <a:pt x="876556" y="566590"/>
                  </a:cubicBezTo>
                  <a:cubicBezTo>
                    <a:pt x="859292" y="583854"/>
                    <a:pt x="835877" y="593553"/>
                    <a:pt x="811461" y="593553"/>
                  </a:cubicBezTo>
                  <a:lnTo>
                    <a:pt x="92059" y="593553"/>
                  </a:lnTo>
                  <a:cubicBezTo>
                    <a:pt x="67643" y="593553"/>
                    <a:pt x="44228" y="583854"/>
                    <a:pt x="26963" y="566590"/>
                  </a:cubicBezTo>
                  <a:cubicBezTo>
                    <a:pt x="9699" y="549325"/>
                    <a:pt x="0" y="525910"/>
                    <a:pt x="0" y="501494"/>
                  </a:cubicBezTo>
                  <a:lnTo>
                    <a:pt x="0" y="92059"/>
                  </a:lnTo>
                  <a:cubicBezTo>
                    <a:pt x="0" y="67643"/>
                    <a:pt x="9699" y="44228"/>
                    <a:pt x="26963" y="26963"/>
                  </a:cubicBezTo>
                  <a:cubicBezTo>
                    <a:pt x="44228" y="9699"/>
                    <a:pt x="67643" y="0"/>
                    <a:pt x="9205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903520" cy="631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2211306" y="7987438"/>
            <a:ext cx="2364171" cy="1381162"/>
            <a:chOff x="0" y="0"/>
            <a:chExt cx="1016000" cy="59355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016000" cy="593553"/>
            </a:xfrm>
            <a:custGeom>
              <a:avLst/>
              <a:gdLst/>
              <a:ahLst/>
              <a:cxnLst/>
              <a:rect l="l" t="t" r="r" b="b"/>
              <a:pathLst>
                <a:path w="1016000" h="593553">
                  <a:moveTo>
                    <a:pt x="81867" y="0"/>
                  </a:moveTo>
                  <a:lnTo>
                    <a:pt x="934133" y="0"/>
                  </a:lnTo>
                  <a:cubicBezTo>
                    <a:pt x="979347" y="0"/>
                    <a:pt x="1016000" y="36653"/>
                    <a:pt x="1016000" y="81867"/>
                  </a:cubicBezTo>
                  <a:lnTo>
                    <a:pt x="1016000" y="511686"/>
                  </a:lnTo>
                  <a:cubicBezTo>
                    <a:pt x="1016000" y="556900"/>
                    <a:pt x="979347" y="593553"/>
                    <a:pt x="934133" y="593553"/>
                  </a:cubicBezTo>
                  <a:lnTo>
                    <a:pt x="81867" y="593553"/>
                  </a:lnTo>
                  <a:cubicBezTo>
                    <a:pt x="36653" y="593553"/>
                    <a:pt x="0" y="556900"/>
                    <a:pt x="0" y="511686"/>
                  </a:cubicBezTo>
                  <a:lnTo>
                    <a:pt x="0" y="81867"/>
                  </a:lnTo>
                  <a:cubicBezTo>
                    <a:pt x="0" y="36653"/>
                    <a:pt x="36653" y="0"/>
                    <a:pt x="8186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1016000" cy="631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4674756" y="7987438"/>
            <a:ext cx="2159803" cy="1381162"/>
            <a:chOff x="0" y="0"/>
            <a:chExt cx="928173" cy="59355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28173" cy="593553"/>
            </a:xfrm>
            <a:custGeom>
              <a:avLst/>
              <a:gdLst/>
              <a:ahLst/>
              <a:cxnLst/>
              <a:rect l="l" t="t" r="r" b="b"/>
              <a:pathLst>
                <a:path w="928173" h="593553">
                  <a:moveTo>
                    <a:pt x="89614" y="0"/>
                  </a:moveTo>
                  <a:lnTo>
                    <a:pt x="838559" y="0"/>
                  </a:lnTo>
                  <a:cubicBezTo>
                    <a:pt x="862326" y="0"/>
                    <a:pt x="885120" y="9441"/>
                    <a:pt x="901926" y="26247"/>
                  </a:cubicBezTo>
                  <a:cubicBezTo>
                    <a:pt x="918731" y="43053"/>
                    <a:pt x="928173" y="65847"/>
                    <a:pt x="928173" y="89614"/>
                  </a:cubicBezTo>
                  <a:lnTo>
                    <a:pt x="928173" y="503939"/>
                  </a:lnTo>
                  <a:cubicBezTo>
                    <a:pt x="928173" y="553432"/>
                    <a:pt x="888051" y="593553"/>
                    <a:pt x="838559" y="593553"/>
                  </a:cubicBezTo>
                  <a:lnTo>
                    <a:pt x="89614" y="593553"/>
                  </a:lnTo>
                  <a:cubicBezTo>
                    <a:pt x="40121" y="593553"/>
                    <a:pt x="0" y="553432"/>
                    <a:pt x="0" y="503939"/>
                  </a:cubicBezTo>
                  <a:lnTo>
                    <a:pt x="0" y="89614"/>
                  </a:lnTo>
                  <a:cubicBezTo>
                    <a:pt x="0" y="40121"/>
                    <a:pt x="40121" y="0"/>
                    <a:pt x="896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28173" cy="6316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49" name="Freeform 49"/>
          <p:cNvSpPr/>
          <p:nvPr/>
        </p:nvSpPr>
        <p:spPr>
          <a:xfrm>
            <a:off x="9192096" y="1315218"/>
            <a:ext cx="7954889" cy="3545663"/>
          </a:xfrm>
          <a:custGeom>
            <a:avLst/>
            <a:gdLst/>
            <a:ahLst/>
            <a:cxnLst/>
            <a:rect l="l" t="t" r="r" b="b"/>
            <a:pathLst>
              <a:path w="7954889" h="3545663">
                <a:moveTo>
                  <a:pt x="0" y="0"/>
                </a:moveTo>
                <a:lnTo>
                  <a:pt x="7954889" y="0"/>
                </a:lnTo>
                <a:lnTo>
                  <a:pt x="7954889" y="3545663"/>
                </a:lnTo>
                <a:lnTo>
                  <a:pt x="0" y="35456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0640" b="-28929"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1660704" y="1403311"/>
            <a:ext cx="3474097" cy="427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  <a:spcBef>
                <a:spcPct val="0"/>
              </a:spcBef>
            </a:pPr>
            <a:r>
              <a:rPr lang="en-US" sz="2498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Have We Built?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382127" y="1895281"/>
            <a:ext cx="7059278" cy="259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6201" lvl="1" indent="-198100" algn="l">
              <a:lnSpc>
                <a:spcPts val="2569"/>
              </a:lnSpc>
              <a:buFont typeface="Arial"/>
              <a:buChar char="•"/>
            </a:pPr>
            <a:r>
              <a:rPr lang="en-US" sz="183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SatyaKavach is now a working end-to-end platform: a citizen uploads suspicious media and receives a Trust Score with an explainable verdict.</a:t>
            </a:r>
          </a:p>
          <a:p>
            <a:pPr marL="396201" lvl="1" indent="-198100" algn="l">
              <a:lnSpc>
                <a:spcPts val="2569"/>
              </a:lnSpc>
              <a:buFont typeface="Arial"/>
              <a:buChar char="•"/>
            </a:pPr>
            <a:r>
              <a:rPr lang="en-US" sz="183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Accepted inputs: image, video, audio, screenshot, or a suspicious link.</a:t>
            </a:r>
          </a:p>
          <a:p>
            <a:pPr marL="396201" lvl="1" indent="-198100" algn="l">
              <a:lnSpc>
                <a:spcPts val="2569"/>
              </a:lnSpc>
              <a:buFont typeface="Arial"/>
              <a:buChar char="•"/>
            </a:pPr>
            <a:r>
              <a:rPr lang="en-US" sz="1835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backend runs parallel AI analysis, fuses all signals into one score, and generates a Hindi-first evidence report with a clear recommended action.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617939" y="4874788"/>
            <a:ext cx="4982998" cy="418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0"/>
              </a:lnSpc>
              <a:spcBef>
                <a:spcPct val="0"/>
              </a:spcBef>
            </a:pPr>
            <a:r>
              <a:rPr lang="en-US" sz="2472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are the 3-4 Key Features?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891040" y="5552361"/>
            <a:ext cx="2984668" cy="3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6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Deepfake Face Detection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891040" y="5962477"/>
            <a:ext cx="2783459" cy="86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Detect manipulated faces in images and videos using AI-powered forensic analysis.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665095" y="6038441"/>
            <a:ext cx="2783459" cy="86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Identify synthetic or cloned voices through audio authenticity verification.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537782" y="6038441"/>
            <a:ext cx="2783459" cy="86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Analyze images, videos and audio for signs of tampering, editing and manipulation.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3292571" y="5962477"/>
            <a:ext cx="2783459" cy="861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12"/>
              </a:lnSpc>
              <a:spcBef>
                <a:spcPct val="0"/>
              </a:spcBef>
            </a:pPr>
            <a:r>
              <a:rPr lang="en-US" sz="1651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Combine multimodal AI signals into one confidence score and explainable verdict.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3235147" y="5597818"/>
            <a:ext cx="2783459" cy="3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6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Unified Trust Score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481567" y="5607015"/>
            <a:ext cx="2921261" cy="3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6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Media Forensics Engine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665095" y="5597818"/>
            <a:ext cx="2958405" cy="345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6"/>
              </a:lnSpc>
              <a:spcBef>
                <a:spcPct val="0"/>
              </a:spcBef>
            </a:pPr>
            <a:r>
              <a:rPr lang="en-US" sz="2019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AI Voice Clone Detection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617939" y="7431653"/>
            <a:ext cx="6099849" cy="418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49"/>
              </a:lnSpc>
              <a:spcBef>
                <a:spcPct val="0"/>
              </a:spcBef>
            </a:pPr>
            <a:r>
              <a:rPr lang="en-US" sz="2463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What makes it different or innovative?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643147" y="8403499"/>
            <a:ext cx="8199877" cy="940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11"/>
              </a:lnSpc>
            </a:pPr>
            <a:r>
              <a:rPr lang="en-US" sz="1793">
                <a:solidFill>
                  <a:srgbClr val="FCFCFC"/>
                </a:solidFill>
                <a:latin typeface="Proxima Nova"/>
                <a:ea typeface="Proxima Nova"/>
                <a:cs typeface="Proxima Nova"/>
                <a:sym typeface="Proxima Nova"/>
              </a:rPr>
              <a:t>Existing protection is fragmented across different tools and content types. SatyaKavach combines image, video and audio verification into one explainable AI workflow.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035210" y="7939813"/>
            <a:ext cx="5259771" cy="402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22"/>
              </a:lnSpc>
              <a:spcBef>
                <a:spcPct val="0"/>
              </a:spcBef>
            </a:pPr>
            <a:r>
              <a:rPr lang="en-US" sz="2373" b="1">
                <a:solidFill>
                  <a:srgbClr val="FCFCFC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Our Innovation: One Verification Layer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0041022" y="8136305"/>
            <a:ext cx="2101486" cy="2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Multimodal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041022" y="8482743"/>
            <a:ext cx="2101486" cy="74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  <a:spcBef>
                <a:spcPct val="0"/>
              </a:spcBef>
            </a:pPr>
            <a:r>
              <a:rPr lang="en-US" sz="1454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Image + Video + Audio verification in one platform.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2342649" y="8136305"/>
            <a:ext cx="2101486" cy="2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Explainable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2342649" y="8482743"/>
            <a:ext cx="2101486" cy="74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  <a:spcBef>
                <a:spcPct val="0"/>
              </a:spcBef>
            </a:pPr>
            <a:r>
              <a:rPr lang="en-US" sz="1454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Shows evidence and confidence behind every detection.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4684301" y="8136305"/>
            <a:ext cx="2101486" cy="290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72"/>
              </a:lnSpc>
              <a:spcBef>
                <a:spcPct val="0"/>
              </a:spcBef>
            </a:pPr>
            <a:r>
              <a:rPr lang="en-US" sz="1766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Action-oriented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733073" y="8482743"/>
            <a:ext cx="2101486" cy="749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36"/>
              </a:lnSpc>
              <a:spcBef>
                <a:spcPct val="0"/>
              </a:spcBef>
            </a:pPr>
            <a:r>
              <a:rPr lang="en-US" sz="1454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Provides a clear trust score and verification recommendation.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1363656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05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13816251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TECHNICAL ARCHITECTURE — AS BUILT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72514" y="6191302"/>
            <a:ext cx="15742973" cy="771279"/>
            <a:chOff x="0" y="0"/>
            <a:chExt cx="23622000" cy="1157288"/>
          </a:xfrm>
        </p:grpSpPr>
        <p:sp>
          <p:nvSpPr>
            <p:cNvPr id="11" name="Freeform 11" descr="image.png"/>
            <p:cNvSpPr/>
            <p:nvPr/>
          </p:nvSpPr>
          <p:spPr>
            <a:xfrm>
              <a:off x="0" y="0"/>
              <a:ext cx="23622000" cy="1157224"/>
            </a:xfrm>
            <a:custGeom>
              <a:avLst/>
              <a:gdLst/>
              <a:ahLst/>
              <a:cxnLst/>
              <a:rect l="l" t="t" r="r" b="b"/>
              <a:pathLst>
                <a:path w="23622000" h="1157224">
                  <a:moveTo>
                    <a:pt x="0" y="0"/>
                  </a:moveTo>
                  <a:lnTo>
                    <a:pt x="23622000" y="0"/>
                  </a:lnTo>
                  <a:lnTo>
                    <a:pt x="23622000" y="1157224"/>
                  </a:lnTo>
                  <a:lnTo>
                    <a:pt x="0" y="11572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029" b="-1033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72514" y="1401756"/>
            <a:ext cx="3047027" cy="4687978"/>
            <a:chOff x="0" y="0"/>
            <a:chExt cx="4572000" cy="7034212"/>
          </a:xfrm>
        </p:grpSpPr>
        <p:sp>
          <p:nvSpPr>
            <p:cNvPr id="13" name="Freeform 13" descr="image.png"/>
            <p:cNvSpPr/>
            <p:nvPr/>
          </p:nvSpPr>
          <p:spPr>
            <a:xfrm>
              <a:off x="0" y="0"/>
              <a:ext cx="4572000" cy="7034149"/>
            </a:xfrm>
            <a:custGeom>
              <a:avLst/>
              <a:gdLst/>
              <a:ahLst/>
              <a:cxnLst/>
              <a:rect l="l" t="t" r="r" b="b"/>
              <a:pathLst>
                <a:path w="4572000" h="7034149">
                  <a:moveTo>
                    <a:pt x="0" y="0"/>
                  </a:moveTo>
                  <a:lnTo>
                    <a:pt x="4572000" y="0"/>
                  </a:lnTo>
                  <a:lnTo>
                    <a:pt x="4572000" y="7034149"/>
                  </a:lnTo>
                  <a:lnTo>
                    <a:pt x="0" y="703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01" b="-10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4446500" y="1401756"/>
            <a:ext cx="3047027" cy="4687978"/>
            <a:chOff x="0" y="0"/>
            <a:chExt cx="4572000" cy="7034212"/>
          </a:xfrm>
        </p:grpSpPr>
        <p:sp>
          <p:nvSpPr>
            <p:cNvPr id="15" name="Freeform 15" descr="image.png"/>
            <p:cNvSpPr/>
            <p:nvPr/>
          </p:nvSpPr>
          <p:spPr>
            <a:xfrm>
              <a:off x="0" y="0"/>
              <a:ext cx="4572000" cy="7034149"/>
            </a:xfrm>
            <a:custGeom>
              <a:avLst/>
              <a:gdLst/>
              <a:ahLst/>
              <a:cxnLst/>
              <a:rect l="l" t="t" r="r" b="b"/>
              <a:pathLst>
                <a:path w="4572000" h="7034149">
                  <a:moveTo>
                    <a:pt x="0" y="0"/>
                  </a:moveTo>
                  <a:lnTo>
                    <a:pt x="4572000" y="0"/>
                  </a:lnTo>
                  <a:lnTo>
                    <a:pt x="4572000" y="7034149"/>
                  </a:lnTo>
                  <a:lnTo>
                    <a:pt x="0" y="703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01" b="-102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7620487" y="1401756"/>
            <a:ext cx="3047027" cy="4687978"/>
            <a:chOff x="0" y="0"/>
            <a:chExt cx="4572000" cy="7034212"/>
          </a:xfrm>
        </p:grpSpPr>
        <p:sp>
          <p:nvSpPr>
            <p:cNvPr id="17" name="Freeform 17" descr="image.png"/>
            <p:cNvSpPr/>
            <p:nvPr/>
          </p:nvSpPr>
          <p:spPr>
            <a:xfrm>
              <a:off x="0" y="0"/>
              <a:ext cx="4572000" cy="7034149"/>
            </a:xfrm>
            <a:custGeom>
              <a:avLst/>
              <a:gdLst/>
              <a:ahLst/>
              <a:cxnLst/>
              <a:rect l="l" t="t" r="r" b="b"/>
              <a:pathLst>
                <a:path w="4572000" h="7034149">
                  <a:moveTo>
                    <a:pt x="0" y="0"/>
                  </a:moveTo>
                  <a:lnTo>
                    <a:pt x="4572000" y="0"/>
                  </a:lnTo>
                  <a:lnTo>
                    <a:pt x="4572000" y="7034149"/>
                  </a:lnTo>
                  <a:lnTo>
                    <a:pt x="0" y="703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1" b="-102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10794473" y="1401756"/>
            <a:ext cx="3047027" cy="4687978"/>
            <a:chOff x="0" y="0"/>
            <a:chExt cx="4572000" cy="7034212"/>
          </a:xfrm>
        </p:grpSpPr>
        <p:sp>
          <p:nvSpPr>
            <p:cNvPr id="19" name="Freeform 19" descr="image.png"/>
            <p:cNvSpPr/>
            <p:nvPr/>
          </p:nvSpPr>
          <p:spPr>
            <a:xfrm>
              <a:off x="0" y="0"/>
              <a:ext cx="4572000" cy="7034149"/>
            </a:xfrm>
            <a:custGeom>
              <a:avLst/>
              <a:gdLst/>
              <a:ahLst/>
              <a:cxnLst/>
              <a:rect l="l" t="t" r="r" b="b"/>
              <a:pathLst>
                <a:path w="4572000" h="7034149">
                  <a:moveTo>
                    <a:pt x="0" y="0"/>
                  </a:moveTo>
                  <a:lnTo>
                    <a:pt x="4572000" y="0"/>
                  </a:lnTo>
                  <a:lnTo>
                    <a:pt x="4572000" y="7034149"/>
                  </a:lnTo>
                  <a:lnTo>
                    <a:pt x="0" y="703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1" b="-102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13968459" y="1401756"/>
            <a:ext cx="3047027" cy="4687978"/>
            <a:chOff x="0" y="0"/>
            <a:chExt cx="4572000" cy="7034212"/>
          </a:xfrm>
        </p:grpSpPr>
        <p:sp>
          <p:nvSpPr>
            <p:cNvPr id="21" name="Freeform 21" descr="image.png"/>
            <p:cNvSpPr/>
            <p:nvPr/>
          </p:nvSpPr>
          <p:spPr>
            <a:xfrm>
              <a:off x="0" y="0"/>
              <a:ext cx="4572000" cy="7034149"/>
            </a:xfrm>
            <a:custGeom>
              <a:avLst/>
              <a:gdLst/>
              <a:ahLst/>
              <a:cxnLst/>
              <a:rect l="l" t="t" r="r" b="b"/>
              <a:pathLst>
                <a:path w="4572000" h="7034149">
                  <a:moveTo>
                    <a:pt x="0" y="0"/>
                  </a:moveTo>
                  <a:lnTo>
                    <a:pt x="4572000" y="0"/>
                  </a:lnTo>
                  <a:lnTo>
                    <a:pt x="4572000" y="7034149"/>
                  </a:lnTo>
                  <a:lnTo>
                    <a:pt x="0" y="70341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01" b="-102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285210" y="1414452"/>
            <a:ext cx="3021635" cy="618927"/>
            <a:chOff x="0" y="0"/>
            <a:chExt cx="4533900" cy="92868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33900" cy="928624"/>
            </a:xfrm>
            <a:custGeom>
              <a:avLst/>
              <a:gdLst/>
              <a:ahLst/>
              <a:cxnLst/>
              <a:rect l="l" t="t" r="r" b="b"/>
              <a:pathLst>
                <a:path w="4533900" h="928624">
                  <a:moveTo>
                    <a:pt x="0" y="0"/>
                  </a:moveTo>
                  <a:lnTo>
                    <a:pt x="4533900" y="0"/>
                  </a:lnTo>
                  <a:lnTo>
                    <a:pt x="4533900" y="928624"/>
                  </a:lnTo>
                  <a:lnTo>
                    <a:pt x="0" y="928624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4459196" y="1414452"/>
            <a:ext cx="3021635" cy="847454"/>
            <a:chOff x="0" y="0"/>
            <a:chExt cx="4533900" cy="12715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533900" cy="1271524"/>
            </a:xfrm>
            <a:custGeom>
              <a:avLst/>
              <a:gdLst/>
              <a:ahLst/>
              <a:cxnLst/>
              <a:rect l="l" t="t" r="r" b="b"/>
              <a:pathLst>
                <a:path w="4533900" h="1271524">
                  <a:moveTo>
                    <a:pt x="0" y="0"/>
                  </a:moveTo>
                  <a:lnTo>
                    <a:pt x="4533900" y="0"/>
                  </a:lnTo>
                  <a:lnTo>
                    <a:pt x="4533900" y="1271524"/>
                  </a:lnTo>
                  <a:lnTo>
                    <a:pt x="0" y="1271524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633182" y="1414452"/>
            <a:ext cx="3021635" cy="827615"/>
            <a:chOff x="0" y="0"/>
            <a:chExt cx="4533900" cy="1241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533900" cy="1241734"/>
            </a:xfrm>
            <a:custGeom>
              <a:avLst/>
              <a:gdLst/>
              <a:ahLst/>
              <a:cxnLst/>
              <a:rect l="l" t="t" r="r" b="b"/>
              <a:pathLst>
                <a:path w="4533900" h="1241734">
                  <a:moveTo>
                    <a:pt x="0" y="0"/>
                  </a:moveTo>
                  <a:lnTo>
                    <a:pt x="4533900" y="0"/>
                  </a:lnTo>
                  <a:lnTo>
                    <a:pt x="4533900" y="1241734"/>
                  </a:lnTo>
                  <a:lnTo>
                    <a:pt x="0" y="1241734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10807169" y="1414452"/>
            <a:ext cx="3021635" cy="816349"/>
            <a:chOff x="0" y="0"/>
            <a:chExt cx="4533900" cy="122491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533900" cy="1224831"/>
            </a:xfrm>
            <a:custGeom>
              <a:avLst/>
              <a:gdLst/>
              <a:ahLst/>
              <a:cxnLst/>
              <a:rect l="l" t="t" r="r" b="b"/>
              <a:pathLst>
                <a:path w="4533900" h="1224831">
                  <a:moveTo>
                    <a:pt x="0" y="0"/>
                  </a:moveTo>
                  <a:lnTo>
                    <a:pt x="4533900" y="0"/>
                  </a:lnTo>
                  <a:lnTo>
                    <a:pt x="4533900" y="1224831"/>
                  </a:lnTo>
                  <a:lnTo>
                    <a:pt x="0" y="1224831"/>
                  </a:lnTo>
                  <a:close/>
                </a:path>
              </a:pathLst>
            </a:custGeom>
            <a:solidFill>
              <a:srgbClr val="1E40AF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3981155" y="1414452"/>
            <a:ext cx="3021635" cy="618927"/>
            <a:chOff x="0" y="0"/>
            <a:chExt cx="4533900" cy="9286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533900" cy="928624"/>
            </a:xfrm>
            <a:custGeom>
              <a:avLst/>
              <a:gdLst/>
              <a:ahLst/>
              <a:cxnLst/>
              <a:rect l="l" t="t" r="r" b="b"/>
              <a:pathLst>
                <a:path w="4533900" h="928624">
                  <a:moveTo>
                    <a:pt x="0" y="0"/>
                  </a:moveTo>
                  <a:lnTo>
                    <a:pt x="4533900" y="0"/>
                  </a:lnTo>
                  <a:lnTo>
                    <a:pt x="4533900" y="928624"/>
                  </a:lnTo>
                  <a:lnTo>
                    <a:pt x="0" y="928624"/>
                  </a:lnTo>
                  <a:close/>
                </a:path>
              </a:pathLst>
            </a:custGeom>
            <a:solidFill>
              <a:srgbClr val="065F4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692915" y="6424585"/>
            <a:ext cx="304703" cy="304703"/>
            <a:chOff x="0" y="0"/>
            <a:chExt cx="457200" cy="457200"/>
          </a:xfrm>
        </p:grpSpPr>
        <p:sp>
          <p:nvSpPr>
            <p:cNvPr id="33" name="Freeform 33" descr="image.png"/>
            <p:cNvSpPr/>
            <p:nvPr/>
          </p:nvSpPr>
          <p:spPr>
            <a:xfrm>
              <a:off x="0" y="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4" name="Freeform 34"/>
          <p:cNvSpPr/>
          <p:nvPr/>
        </p:nvSpPr>
        <p:spPr>
          <a:xfrm>
            <a:off x="7308859" y="6424590"/>
            <a:ext cx="369337" cy="304703"/>
          </a:xfrm>
          <a:custGeom>
            <a:avLst/>
            <a:gdLst/>
            <a:ahLst/>
            <a:cxnLst/>
            <a:rect l="l" t="t" r="r" b="b"/>
            <a:pathLst>
              <a:path w="369337" h="304703">
                <a:moveTo>
                  <a:pt x="0" y="0"/>
                </a:moveTo>
                <a:lnTo>
                  <a:pt x="369336" y="0"/>
                </a:lnTo>
                <a:lnTo>
                  <a:pt x="369336" y="304702"/>
                </a:lnTo>
                <a:lnTo>
                  <a:pt x="0" y="3047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361385" y="6378647"/>
            <a:ext cx="279589" cy="396580"/>
          </a:xfrm>
          <a:custGeom>
            <a:avLst/>
            <a:gdLst/>
            <a:ahLst/>
            <a:cxnLst/>
            <a:rect l="l" t="t" r="r" b="b"/>
            <a:pathLst>
              <a:path w="279589" h="396580">
                <a:moveTo>
                  <a:pt x="0" y="0"/>
                </a:moveTo>
                <a:lnTo>
                  <a:pt x="279589" y="0"/>
                </a:lnTo>
                <a:lnTo>
                  <a:pt x="279589" y="396580"/>
                </a:lnTo>
                <a:lnTo>
                  <a:pt x="0" y="396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grpSp>
        <p:nvGrpSpPr>
          <p:cNvPr id="36" name="Group 36"/>
          <p:cNvGrpSpPr/>
          <p:nvPr/>
        </p:nvGrpSpPr>
        <p:grpSpPr>
          <a:xfrm>
            <a:off x="1323297" y="5459390"/>
            <a:ext cx="2920068" cy="630344"/>
            <a:chOff x="0" y="0"/>
            <a:chExt cx="4381500" cy="94581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381500" cy="945771"/>
            </a:xfrm>
            <a:custGeom>
              <a:avLst/>
              <a:gdLst/>
              <a:ahLst/>
              <a:cxnLst/>
              <a:rect l="l" t="t" r="r" b="b"/>
              <a:pathLst>
                <a:path w="4381500" h="945771">
                  <a:moveTo>
                    <a:pt x="192259" y="0"/>
                  </a:moveTo>
                  <a:lnTo>
                    <a:pt x="4189241" y="0"/>
                  </a:lnTo>
                  <a:cubicBezTo>
                    <a:pt x="4295423" y="0"/>
                    <a:pt x="4381500" y="86077"/>
                    <a:pt x="4381500" y="192259"/>
                  </a:cubicBezTo>
                  <a:lnTo>
                    <a:pt x="4381500" y="753512"/>
                  </a:lnTo>
                  <a:cubicBezTo>
                    <a:pt x="4381500" y="859694"/>
                    <a:pt x="4295423" y="945771"/>
                    <a:pt x="4189241" y="945771"/>
                  </a:cubicBezTo>
                  <a:lnTo>
                    <a:pt x="192259" y="945771"/>
                  </a:lnTo>
                  <a:cubicBezTo>
                    <a:pt x="86077" y="945771"/>
                    <a:pt x="0" y="859694"/>
                    <a:pt x="0" y="753512"/>
                  </a:cubicBezTo>
                  <a:lnTo>
                    <a:pt x="0" y="192259"/>
                  </a:lnTo>
                  <a:cubicBezTo>
                    <a:pt x="0" y="86077"/>
                    <a:pt x="86077" y="0"/>
                    <a:pt x="192259" y="0"/>
                  </a:cubicBezTo>
                  <a:close/>
                </a:path>
              </a:pathLst>
            </a:custGeom>
            <a:solidFill>
              <a:srgbClr val="CBDFEA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4509980" y="5446694"/>
            <a:ext cx="2920068" cy="630344"/>
            <a:chOff x="0" y="0"/>
            <a:chExt cx="4381500" cy="94581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381500" cy="945771"/>
            </a:xfrm>
            <a:custGeom>
              <a:avLst/>
              <a:gdLst/>
              <a:ahLst/>
              <a:cxnLst/>
              <a:rect l="l" t="t" r="r" b="b"/>
              <a:pathLst>
                <a:path w="4381500" h="945771">
                  <a:moveTo>
                    <a:pt x="192259" y="0"/>
                  </a:moveTo>
                  <a:lnTo>
                    <a:pt x="4189241" y="0"/>
                  </a:lnTo>
                  <a:cubicBezTo>
                    <a:pt x="4295423" y="0"/>
                    <a:pt x="4381500" y="86077"/>
                    <a:pt x="4381500" y="192259"/>
                  </a:cubicBezTo>
                  <a:lnTo>
                    <a:pt x="4381500" y="753512"/>
                  </a:lnTo>
                  <a:cubicBezTo>
                    <a:pt x="4381500" y="859694"/>
                    <a:pt x="4295423" y="945771"/>
                    <a:pt x="4189241" y="945771"/>
                  </a:cubicBezTo>
                  <a:lnTo>
                    <a:pt x="192259" y="945771"/>
                  </a:lnTo>
                  <a:cubicBezTo>
                    <a:pt x="86077" y="945771"/>
                    <a:pt x="0" y="859694"/>
                    <a:pt x="0" y="753512"/>
                  </a:cubicBezTo>
                  <a:lnTo>
                    <a:pt x="0" y="192259"/>
                  </a:lnTo>
                  <a:cubicBezTo>
                    <a:pt x="0" y="86077"/>
                    <a:pt x="86077" y="0"/>
                    <a:pt x="192259" y="0"/>
                  </a:cubicBezTo>
                  <a:close/>
                </a:path>
              </a:pathLst>
            </a:custGeom>
            <a:solidFill>
              <a:srgbClr val="CBDFEA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7683966" y="5459390"/>
            <a:ext cx="2920068" cy="630344"/>
            <a:chOff x="0" y="0"/>
            <a:chExt cx="4381500" cy="94581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381500" cy="945771"/>
            </a:xfrm>
            <a:custGeom>
              <a:avLst/>
              <a:gdLst/>
              <a:ahLst/>
              <a:cxnLst/>
              <a:rect l="l" t="t" r="r" b="b"/>
              <a:pathLst>
                <a:path w="4381500" h="945771">
                  <a:moveTo>
                    <a:pt x="192259" y="0"/>
                  </a:moveTo>
                  <a:lnTo>
                    <a:pt x="4189241" y="0"/>
                  </a:lnTo>
                  <a:cubicBezTo>
                    <a:pt x="4295423" y="0"/>
                    <a:pt x="4381500" y="86077"/>
                    <a:pt x="4381500" y="192259"/>
                  </a:cubicBezTo>
                  <a:lnTo>
                    <a:pt x="4381500" y="753512"/>
                  </a:lnTo>
                  <a:cubicBezTo>
                    <a:pt x="4381500" y="859694"/>
                    <a:pt x="4295423" y="945771"/>
                    <a:pt x="4189241" y="945771"/>
                  </a:cubicBezTo>
                  <a:lnTo>
                    <a:pt x="192259" y="945771"/>
                  </a:lnTo>
                  <a:cubicBezTo>
                    <a:pt x="86077" y="945771"/>
                    <a:pt x="0" y="859694"/>
                    <a:pt x="0" y="753512"/>
                  </a:cubicBezTo>
                  <a:lnTo>
                    <a:pt x="0" y="192259"/>
                  </a:lnTo>
                  <a:cubicBezTo>
                    <a:pt x="0" y="86077"/>
                    <a:pt x="86077" y="0"/>
                    <a:pt x="192259" y="0"/>
                  </a:cubicBezTo>
                  <a:close/>
                </a:path>
              </a:pathLst>
            </a:custGeom>
            <a:solidFill>
              <a:srgbClr val="CBDFEA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0853721" y="5446694"/>
            <a:ext cx="2920068" cy="630344"/>
            <a:chOff x="0" y="0"/>
            <a:chExt cx="4381500" cy="94581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381500" cy="945771"/>
            </a:xfrm>
            <a:custGeom>
              <a:avLst/>
              <a:gdLst/>
              <a:ahLst/>
              <a:cxnLst/>
              <a:rect l="l" t="t" r="r" b="b"/>
              <a:pathLst>
                <a:path w="4381500" h="945771">
                  <a:moveTo>
                    <a:pt x="192259" y="0"/>
                  </a:moveTo>
                  <a:lnTo>
                    <a:pt x="4189241" y="0"/>
                  </a:lnTo>
                  <a:cubicBezTo>
                    <a:pt x="4295423" y="0"/>
                    <a:pt x="4381500" y="86077"/>
                    <a:pt x="4381500" y="192259"/>
                  </a:cubicBezTo>
                  <a:lnTo>
                    <a:pt x="4381500" y="753512"/>
                  </a:lnTo>
                  <a:cubicBezTo>
                    <a:pt x="4381500" y="859694"/>
                    <a:pt x="4295423" y="945771"/>
                    <a:pt x="4189241" y="945771"/>
                  </a:cubicBezTo>
                  <a:lnTo>
                    <a:pt x="192259" y="945771"/>
                  </a:lnTo>
                  <a:cubicBezTo>
                    <a:pt x="86077" y="945771"/>
                    <a:pt x="0" y="859694"/>
                    <a:pt x="0" y="753512"/>
                  </a:cubicBezTo>
                  <a:lnTo>
                    <a:pt x="0" y="192259"/>
                  </a:lnTo>
                  <a:cubicBezTo>
                    <a:pt x="0" y="86077"/>
                    <a:pt x="86077" y="0"/>
                    <a:pt x="192259" y="0"/>
                  </a:cubicBezTo>
                  <a:close/>
                </a:path>
              </a:pathLst>
            </a:custGeom>
            <a:solidFill>
              <a:srgbClr val="CBDFEA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4028523" y="5484468"/>
            <a:ext cx="2920068" cy="559064"/>
            <a:chOff x="0" y="0"/>
            <a:chExt cx="4381500" cy="83886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381500" cy="838822"/>
            </a:xfrm>
            <a:custGeom>
              <a:avLst/>
              <a:gdLst/>
              <a:ahLst/>
              <a:cxnLst/>
              <a:rect l="l" t="t" r="r" b="b"/>
              <a:pathLst>
                <a:path w="4381500" h="838822">
                  <a:moveTo>
                    <a:pt x="192259" y="0"/>
                  </a:moveTo>
                  <a:lnTo>
                    <a:pt x="4189241" y="0"/>
                  </a:lnTo>
                  <a:cubicBezTo>
                    <a:pt x="4295423" y="0"/>
                    <a:pt x="4381500" y="86077"/>
                    <a:pt x="4381500" y="192259"/>
                  </a:cubicBezTo>
                  <a:lnTo>
                    <a:pt x="4381500" y="646563"/>
                  </a:lnTo>
                  <a:cubicBezTo>
                    <a:pt x="4381500" y="752744"/>
                    <a:pt x="4295423" y="838822"/>
                    <a:pt x="4189241" y="838822"/>
                  </a:cubicBezTo>
                  <a:lnTo>
                    <a:pt x="192259" y="838822"/>
                  </a:lnTo>
                  <a:cubicBezTo>
                    <a:pt x="86077" y="838822"/>
                    <a:pt x="0" y="752744"/>
                    <a:pt x="0" y="646563"/>
                  </a:cubicBezTo>
                  <a:lnTo>
                    <a:pt x="0" y="192259"/>
                  </a:lnTo>
                  <a:cubicBezTo>
                    <a:pt x="0" y="86077"/>
                    <a:pt x="86077" y="0"/>
                    <a:pt x="192259" y="0"/>
                  </a:cubicBezTo>
                  <a:close/>
                </a:path>
              </a:pathLst>
            </a:custGeom>
            <a:solidFill>
              <a:srgbClr val="A5D1C4"/>
            </a:solidFill>
          </p:spPr>
        </p:sp>
      </p:grpSp>
      <p:sp>
        <p:nvSpPr>
          <p:cNvPr id="46" name="Freeform 46"/>
          <p:cNvSpPr/>
          <p:nvPr/>
        </p:nvSpPr>
        <p:spPr>
          <a:xfrm>
            <a:off x="2977936" y="6810468"/>
            <a:ext cx="12383850" cy="2590544"/>
          </a:xfrm>
          <a:custGeom>
            <a:avLst/>
            <a:gdLst/>
            <a:ahLst/>
            <a:cxnLst/>
            <a:rect l="l" t="t" r="r" b="b"/>
            <a:pathLst>
              <a:path w="12383850" h="2590544">
                <a:moveTo>
                  <a:pt x="0" y="0"/>
                </a:moveTo>
                <a:lnTo>
                  <a:pt x="12383850" y="0"/>
                </a:lnTo>
                <a:lnTo>
                  <a:pt x="12383850" y="2590544"/>
                </a:lnTo>
                <a:lnTo>
                  <a:pt x="0" y="259054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55284" b="-57658"/>
            </a:stretch>
          </a:blipFill>
        </p:spPr>
      </p:sp>
      <p:sp>
        <p:nvSpPr>
          <p:cNvPr id="47" name="TextBox 47"/>
          <p:cNvSpPr txBox="1"/>
          <p:nvPr/>
        </p:nvSpPr>
        <p:spPr>
          <a:xfrm>
            <a:off x="1361385" y="1481103"/>
            <a:ext cx="2869284" cy="466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1. PRESENTATION LAYER</a:t>
            </a:r>
          </a:p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Citizen &amp; Hindi-first Interface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535372" y="1481103"/>
            <a:ext cx="2869284" cy="69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 BACKEND &amp; ORCHESTRATION</a:t>
            </a:r>
          </a:p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APIs, Logic &amp; Verification Services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709358" y="1481103"/>
            <a:ext cx="2869284" cy="69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3. AI &amp; INTELLIGENCE LAYER</a:t>
            </a:r>
          </a:p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Detection, Reasoning &amp; Explainability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883345" y="1481103"/>
            <a:ext cx="2890444" cy="695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4. DATA LAYER</a:t>
            </a:r>
          </a:p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Evidence, Reports &amp; Intelligence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057331" y="1481103"/>
            <a:ext cx="2869284" cy="4665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THREAT INTELLIGENCE</a:t>
            </a:r>
          </a:p>
          <a:p>
            <a:pPr algn="ctr">
              <a:lnSpc>
                <a:spcPts val="1799"/>
              </a:lnSpc>
            </a:pPr>
            <a:r>
              <a:rPr lang="en-US" sz="1499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External Security Signals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783128" y="6321432"/>
            <a:ext cx="3373617" cy="47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SECURITY FIRST - </a:t>
            </a: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HTTPS • JWT • Input Validation • Secure File Handling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784544" y="6321432"/>
            <a:ext cx="3248571" cy="47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CLOUD READY - Docker Compose • Nginx • Render/Vercel/Neon deploy plan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3149969" y="6321432"/>
            <a:ext cx="3035516" cy="47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SCALABLE - </a:t>
            </a: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Stateless APIs • Async Processing • Modular AI Services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640696" y="2178327"/>
            <a:ext cx="228527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React.js + TypeScript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Built — premium Hindi-first citizen PWA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653392" y="3009373"/>
            <a:ext cx="2285270" cy="711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Tailwind CSS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Clean, accessible UI components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910397" y="2325976"/>
            <a:ext cx="2178743" cy="47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4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FastAPI (Python) — LIVE • REST + async pipeline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910397" y="2950212"/>
            <a:ext cx="2392492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REST APIs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Frontend ↔ AI/verification services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910397" y="3821059"/>
            <a:ext cx="2178743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JWT Authentication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Secure session &amp; access control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910397" y="4691905"/>
            <a:ext cx="2276544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Engine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LIVE — weighted fusion → Trust Score 0–100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018293" y="2307806"/>
            <a:ext cx="228527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Gemini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Context reasoning &amp; report writing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018303" y="3129339"/>
            <a:ext cx="228526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33415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Whisper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Transcription &amp; voice-clone signals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018303" y="3949402"/>
            <a:ext cx="2266819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33415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EasyOCR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Phase B — screenshot text extraction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006773" y="4691905"/>
            <a:ext cx="1917088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NLP / Scam Classifier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Phase B — message intent analysis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027265" y="2284953"/>
            <a:ext cx="2572978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33415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PostgreSQL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Users • uploads • verdicts • audit logs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036885" y="3094681"/>
            <a:ext cx="228527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AWS S3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Evidence storage (S3-compatible)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036885" y="3949402"/>
            <a:ext cx="228527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Threat Intelligence Cache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URL/domain reputation results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027265" y="4811818"/>
            <a:ext cx="2445220" cy="47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Audit Logs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Verification &amp; security events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14155820" y="2100030"/>
            <a:ext cx="2252815" cy="47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VirusTotal API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URL/domain/file reputation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4155820" y="2725422"/>
            <a:ext cx="2665474" cy="47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Google Safe Browsing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Known malicious URL detection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4155820" y="3331672"/>
            <a:ext cx="2247967" cy="47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PhishTank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Phishing URL intelligence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4171372" y="4002563"/>
            <a:ext cx="2237263" cy="474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0F172A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Domain Reputation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0F172A"/>
                </a:solidFill>
                <a:latin typeface="Proxima Nova"/>
                <a:ea typeface="Proxima Nova"/>
                <a:cs typeface="Proxima Nova"/>
                <a:sym typeface="Proxima Nova"/>
              </a:rPr>
              <a:t>Additional URL risk signals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661856" y="3842411"/>
            <a:ext cx="2285270" cy="660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PWA</a:t>
            </a:r>
          </a:p>
          <a:p>
            <a:pPr algn="l">
              <a:lnSpc>
                <a:spcPts val="1763"/>
              </a:lnSpc>
            </a:pPr>
            <a:r>
              <a:rPr lang="en-US" sz="141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Installable, mobile-first experience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678784" y="4646103"/>
            <a:ext cx="2285270" cy="660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Voice / Upload Interface</a:t>
            </a:r>
          </a:p>
          <a:p>
            <a:pPr algn="l">
              <a:lnSpc>
                <a:spcPts val="1761"/>
              </a:lnSpc>
            </a:pPr>
            <a:r>
              <a:rPr lang="en-US" sz="141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Voice • Screenshot • Message • Link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424935" y="5549363"/>
            <a:ext cx="2742185" cy="44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337CC6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Purpose: Simple, accessible verification for everyday citizens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552466" y="5566015"/>
            <a:ext cx="2894606" cy="407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0"/>
              </a:lnSpc>
            </a:pPr>
            <a:r>
              <a:rPr lang="en-US" sz="1321" b="1">
                <a:solidFill>
                  <a:srgbClr val="337CC6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Purpose: Secure, scalable and asynchronous verification workflow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7772838" y="5536667"/>
            <a:ext cx="2742185" cy="44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337CC6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Purpose: Multimodal analysis with explainable results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1036885" y="5549363"/>
            <a:ext cx="2563749" cy="44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337CC6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Purpose: Secure, structured and traceable data layer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14171372" y="4621025"/>
            <a:ext cx="2688030" cy="711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72"/>
              </a:lnSpc>
            </a:pPr>
            <a:r>
              <a:rPr lang="en-US" sz="1499" b="1">
                <a:solidFill>
                  <a:srgbClr val="33415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I4C / 1930 Ecosystem</a:t>
            </a:r>
          </a:p>
          <a:p>
            <a:pPr algn="l">
              <a:lnSpc>
                <a:spcPts val="1874"/>
              </a:lnSpc>
            </a:pPr>
            <a:r>
              <a:rPr lang="en-US" sz="1499">
                <a:solidFill>
                  <a:srgbClr val="334155"/>
                </a:solidFill>
                <a:latin typeface="Proxima Nova"/>
                <a:ea typeface="Proxima Nova"/>
                <a:cs typeface="Proxima Nova"/>
                <a:sym typeface="Proxima Nova"/>
              </a:rPr>
              <a:t>Citizen reporting &amp; cyber-fraud support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4091763" y="5536667"/>
            <a:ext cx="2793586" cy="44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61"/>
              </a:lnSpc>
            </a:pPr>
            <a:r>
              <a:rPr lang="en-US" sz="1410" b="1">
                <a:solidFill>
                  <a:srgbClr val="337CC6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Purpose: Works alongside existing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1478756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06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7676042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FEATURES IMPLEMENTED</a:t>
            </a:r>
          </a:p>
        </p:txBody>
      </p:sp>
      <p:sp>
        <p:nvSpPr>
          <p:cNvPr id="10" name="Freeform 10"/>
          <p:cNvSpPr/>
          <p:nvPr/>
        </p:nvSpPr>
        <p:spPr>
          <a:xfrm flipV="1">
            <a:off x="3041058" y="2122895"/>
            <a:ext cx="2615707" cy="4596291"/>
          </a:xfrm>
          <a:custGeom>
            <a:avLst/>
            <a:gdLst/>
            <a:ahLst/>
            <a:cxnLst/>
            <a:rect l="l" t="t" r="r" b="b"/>
            <a:pathLst>
              <a:path w="2615707" h="4596291">
                <a:moveTo>
                  <a:pt x="0" y="4596290"/>
                </a:moveTo>
                <a:lnTo>
                  <a:pt x="2615707" y="4596290"/>
                </a:lnTo>
                <a:lnTo>
                  <a:pt x="2615707" y="0"/>
                </a:lnTo>
                <a:lnTo>
                  <a:pt x="0" y="0"/>
                </a:lnTo>
                <a:lnTo>
                  <a:pt x="0" y="45962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019638" y="5439975"/>
            <a:ext cx="658547" cy="65854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4226230" y="5544770"/>
            <a:ext cx="245362" cy="471850"/>
          </a:xfrm>
          <a:custGeom>
            <a:avLst/>
            <a:gdLst/>
            <a:ahLst/>
            <a:cxnLst/>
            <a:rect l="l" t="t" r="r" b="b"/>
            <a:pathLst>
              <a:path w="245362" h="471850">
                <a:moveTo>
                  <a:pt x="0" y="0"/>
                </a:moveTo>
                <a:lnTo>
                  <a:pt x="245362" y="0"/>
                </a:lnTo>
                <a:lnTo>
                  <a:pt x="245362" y="471849"/>
                </a:lnTo>
                <a:lnTo>
                  <a:pt x="0" y="47184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6446747" y="2122895"/>
            <a:ext cx="2615707" cy="4596291"/>
          </a:xfrm>
          <a:custGeom>
            <a:avLst/>
            <a:gdLst/>
            <a:ahLst/>
            <a:cxnLst/>
            <a:rect l="l" t="t" r="r" b="b"/>
            <a:pathLst>
              <a:path w="2615707" h="4596291">
                <a:moveTo>
                  <a:pt x="0" y="4596290"/>
                </a:moveTo>
                <a:lnTo>
                  <a:pt x="2615707" y="4596290"/>
                </a:lnTo>
                <a:lnTo>
                  <a:pt x="2615707" y="0"/>
                </a:lnTo>
                <a:lnTo>
                  <a:pt x="0" y="0"/>
                </a:lnTo>
                <a:lnTo>
                  <a:pt x="0" y="459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425327" y="5451421"/>
            <a:ext cx="658547" cy="65854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flipV="1">
            <a:off x="9856007" y="2122895"/>
            <a:ext cx="2615707" cy="4596291"/>
          </a:xfrm>
          <a:custGeom>
            <a:avLst/>
            <a:gdLst/>
            <a:ahLst/>
            <a:cxnLst/>
            <a:rect l="l" t="t" r="r" b="b"/>
            <a:pathLst>
              <a:path w="2615707" h="4596291">
                <a:moveTo>
                  <a:pt x="0" y="4596290"/>
                </a:moveTo>
                <a:lnTo>
                  <a:pt x="2615707" y="4596290"/>
                </a:lnTo>
                <a:lnTo>
                  <a:pt x="2615707" y="0"/>
                </a:lnTo>
                <a:lnTo>
                  <a:pt x="0" y="0"/>
                </a:lnTo>
                <a:lnTo>
                  <a:pt x="0" y="459629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0834587" y="5460110"/>
            <a:ext cx="658547" cy="658547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101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 flipV="1">
            <a:off x="13265267" y="2122895"/>
            <a:ext cx="2615707" cy="4596291"/>
          </a:xfrm>
          <a:custGeom>
            <a:avLst/>
            <a:gdLst/>
            <a:ahLst/>
            <a:cxnLst/>
            <a:rect l="l" t="t" r="r" b="b"/>
            <a:pathLst>
              <a:path w="2615707" h="4596291">
                <a:moveTo>
                  <a:pt x="0" y="4596290"/>
                </a:moveTo>
                <a:lnTo>
                  <a:pt x="2615707" y="4596290"/>
                </a:lnTo>
                <a:lnTo>
                  <a:pt x="2615707" y="0"/>
                </a:lnTo>
                <a:lnTo>
                  <a:pt x="0" y="0"/>
                </a:lnTo>
                <a:lnTo>
                  <a:pt x="0" y="459629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24" name="Group 24"/>
          <p:cNvGrpSpPr/>
          <p:nvPr/>
        </p:nvGrpSpPr>
        <p:grpSpPr>
          <a:xfrm>
            <a:off x="14243847" y="5451421"/>
            <a:ext cx="658547" cy="65854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27" name="Freeform 27"/>
          <p:cNvSpPr/>
          <p:nvPr/>
        </p:nvSpPr>
        <p:spPr>
          <a:xfrm>
            <a:off x="7492021" y="5526804"/>
            <a:ext cx="525158" cy="525158"/>
          </a:xfrm>
          <a:custGeom>
            <a:avLst/>
            <a:gdLst/>
            <a:ahLst/>
            <a:cxnLst/>
            <a:rect l="l" t="t" r="r" b="b"/>
            <a:pathLst>
              <a:path w="525158" h="525158">
                <a:moveTo>
                  <a:pt x="0" y="0"/>
                </a:moveTo>
                <a:lnTo>
                  <a:pt x="525158" y="0"/>
                </a:lnTo>
                <a:lnTo>
                  <a:pt x="525158" y="525158"/>
                </a:lnTo>
                <a:lnTo>
                  <a:pt x="0" y="5251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904267" y="5509655"/>
            <a:ext cx="519188" cy="519188"/>
          </a:xfrm>
          <a:custGeom>
            <a:avLst/>
            <a:gdLst/>
            <a:ahLst/>
            <a:cxnLst/>
            <a:rect l="l" t="t" r="r" b="b"/>
            <a:pathLst>
              <a:path w="519188" h="519188">
                <a:moveTo>
                  <a:pt x="0" y="0"/>
                </a:moveTo>
                <a:lnTo>
                  <a:pt x="519188" y="0"/>
                </a:lnTo>
                <a:lnTo>
                  <a:pt x="519188" y="519188"/>
                </a:lnTo>
                <a:lnTo>
                  <a:pt x="0" y="51918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4338064" y="5579884"/>
            <a:ext cx="470114" cy="448959"/>
          </a:xfrm>
          <a:custGeom>
            <a:avLst/>
            <a:gdLst/>
            <a:ahLst/>
            <a:cxnLst/>
            <a:rect l="l" t="t" r="r" b="b"/>
            <a:pathLst>
              <a:path w="470114" h="448959">
                <a:moveTo>
                  <a:pt x="0" y="0"/>
                </a:moveTo>
                <a:lnTo>
                  <a:pt x="470114" y="0"/>
                </a:lnTo>
                <a:lnTo>
                  <a:pt x="470114" y="448959"/>
                </a:lnTo>
                <a:lnTo>
                  <a:pt x="0" y="44895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3641637" y="6098522"/>
            <a:ext cx="11563914" cy="3086955"/>
          </a:xfrm>
          <a:custGeom>
            <a:avLst/>
            <a:gdLst/>
            <a:ahLst/>
            <a:cxnLst/>
            <a:rect l="l" t="t" r="r" b="b"/>
            <a:pathLst>
              <a:path w="11563914" h="3086955">
                <a:moveTo>
                  <a:pt x="0" y="0"/>
                </a:moveTo>
                <a:lnTo>
                  <a:pt x="11563913" y="0"/>
                </a:lnTo>
                <a:lnTo>
                  <a:pt x="11563913" y="3086955"/>
                </a:lnTo>
                <a:lnTo>
                  <a:pt x="0" y="308695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20959" b="-17024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336577" y="2300350"/>
            <a:ext cx="1967710" cy="4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  <a:spcBef>
                <a:spcPct val="0"/>
              </a:spcBef>
            </a:pPr>
            <a:r>
              <a:rPr lang="en-US" sz="132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IMAGE DEEPFAKE DETECTION  •  BUILT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316813" y="2769338"/>
            <a:ext cx="1985596" cy="223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Datasets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FaceForensics++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Celeb-DF v2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DFDC Dataset</a:t>
            </a:r>
          </a:p>
          <a:p>
            <a:pPr algn="l">
              <a:lnSpc>
                <a:spcPts val="1652"/>
              </a:lnSpc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Gemini Vision (live)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EfficientNet + XceptionNet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CPU inference path</a:t>
            </a:r>
          </a:p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Shipped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POST /api/v1/upload/</a:t>
            </a:r>
          </a:p>
          <a:p>
            <a:pPr marL="254850" lvl="1" indent="-127425" algn="l">
              <a:lnSpc>
                <a:spcPts val="1652"/>
              </a:lnSpc>
              <a:spcBef>
                <a:spcPct val="0"/>
              </a:spcBef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Manipulation score + class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662430" y="1541652"/>
            <a:ext cx="1139352" cy="4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  <a:spcBef>
                <a:spcPct val="0"/>
              </a:spcBef>
            </a:pPr>
            <a:r>
              <a:rPr lang="en-US" sz="2655" b="1">
                <a:solidFill>
                  <a:srgbClr val="1675D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42266" y="2300350"/>
            <a:ext cx="1967710" cy="4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  <a:spcBef>
                <a:spcPct val="0"/>
              </a:spcBef>
            </a:pPr>
            <a:r>
              <a:rPr lang="en-US" sz="132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VIDEO DEEPFAKE DETECTION  •  BUILT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24380" y="2769338"/>
            <a:ext cx="1985596" cy="223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52"/>
              </a:lnSpc>
            </a:pPr>
            <a:r>
              <a:rPr lang="en-US" sz="118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FaceForensics++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DFDC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DeepFakeTIMIT</a:t>
            </a:r>
          </a:p>
          <a:p>
            <a:pPr algn="l">
              <a:lnSpc>
                <a:spcPts val="1652"/>
              </a:lnSpc>
            </a:pPr>
            <a:r>
              <a:rPr lang="en-US" sz="118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TimeSformer + Video Swin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Frame extraction pipeline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Gemini Vision assist</a:t>
            </a:r>
          </a:p>
          <a:p>
            <a:pPr algn="l">
              <a:lnSpc>
                <a:spcPts val="1652"/>
              </a:lnSpc>
            </a:pPr>
            <a:r>
              <a:rPr lang="en-US" sz="118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Shipped</a:t>
            </a:r>
          </a:p>
          <a:p>
            <a:pPr marL="254850" lvl="1" indent="-127425" algn="just">
              <a:lnSpc>
                <a:spcPts val="1652"/>
              </a:lnSpc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Frame-level detection</a:t>
            </a:r>
          </a:p>
          <a:p>
            <a:pPr marL="254850" lvl="1" indent="-127425" algn="just">
              <a:lnSpc>
                <a:spcPts val="1652"/>
              </a:lnSpc>
              <a:spcBef>
                <a:spcPct val="0"/>
              </a:spcBef>
              <a:buFont typeface="Arial"/>
              <a:buChar char="•"/>
            </a:pPr>
            <a:r>
              <a:rPr lang="en-US" sz="118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Video authenticity score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068119" y="1541652"/>
            <a:ext cx="1139352" cy="4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  <a:spcBef>
                <a:spcPct val="0"/>
              </a:spcBef>
            </a:pPr>
            <a:r>
              <a:rPr lang="en-US" sz="2655" b="1">
                <a:solidFill>
                  <a:srgbClr val="00CD9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0151526" y="2300350"/>
            <a:ext cx="1967710" cy="4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  <a:spcBef>
                <a:spcPct val="0"/>
              </a:spcBef>
            </a:pPr>
            <a:r>
              <a:rPr lang="en-US" sz="132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AUDIO DEEPFAKE DETECTION  •  BUILT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33749" y="2769338"/>
            <a:ext cx="2135750" cy="223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Datasets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ASVspoof 2019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FakeAVCeleb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WaveFake</a:t>
            </a:r>
          </a:p>
          <a:p>
            <a:pPr algn="l">
              <a:lnSpc>
                <a:spcPts val="1652"/>
              </a:lnSpc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Models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Whisper transcription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Wav2Vec2 + spectrogram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Voice-clone scoring</a:t>
            </a:r>
          </a:p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Shipped</a:t>
            </a:r>
          </a:p>
          <a:p>
            <a:pPr marL="254850" lvl="1" indent="-127425" algn="l">
              <a:lnSpc>
                <a:spcPts val="1652"/>
              </a:lnSpc>
              <a:spcBef>
                <a:spcPct val="0"/>
              </a:spcBef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Voice clone detection</a:t>
            </a:r>
          </a:p>
          <a:p>
            <a:pPr marL="254850" lvl="1" indent="-127425" algn="l">
              <a:lnSpc>
                <a:spcPts val="1652"/>
              </a:lnSpc>
              <a:spcBef>
                <a:spcPct val="0"/>
              </a:spcBef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Audio authenticity score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477379" y="1541652"/>
            <a:ext cx="1139352" cy="4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  <a:spcBef>
                <a:spcPct val="0"/>
              </a:spcBef>
            </a:pPr>
            <a:r>
              <a:rPr lang="en-US" sz="2655" b="1">
                <a:solidFill>
                  <a:srgbClr val="1675D5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3560786" y="2300350"/>
            <a:ext cx="1967710" cy="465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59"/>
              </a:lnSpc>
              <a:spcBef>
                <a:spcPct val="0"/>
              </a:spcBef>
            </a:pPr>
            <a:r>
              <a:rPr lang="en-US" sz="1327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RISK ENGINE + EVIDENCE REPORT  •  BUILT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542900" y="2769338"/>
            <a:ext cx="1985596" cy="2230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 b="1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Inputs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Image signals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Video + Audio signals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Threat intel signals</a:t>
            </a:r>
          </a:p>
          <a:p>
            <a:pPr algn="l">
              <a:lnSpc>
                <a:spcPts val="1652"/>
              </a:lnSpc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Engine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Weighted Risk Engine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Re-normalising fusion</a:t>
            </a:r>
          </a:p>
          <a:p>
            <a:pPr marL="0" lvl="0" indent="0" algn="l">
              <a:lnSpc>
                <a:spcPts val="1652"/>
              </a:lnSpc>
              <a:spcBef>
                <a:spcPct val="0"/>
              </a:spcBef>
            </a:pPr>
            <a:r>
              <a:rPr lang="en-US" sz="1180" b="1" u="none" strike="noStrike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Gemini 2.5 report writer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Output</a:t>
            </a:r>
          </a:p>
          <a:p>
            <a:pPr marL="254850" lvl="1" indent="-127425" algn="l">
              <a:lnSpc>
                <a:spcPts val="1652"/>
              </a:lnSpc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Trust Score 0–100</a:t>
            </a:r>
          </a:p>
          <a:p>
            <a:pPr marL="254850" lvl="1" indent="-127425" algn="l">
              <a:lnSpc>
                <a:spcPts val="1652"/>
              </a:lnSpc>
              <a:spcBef>
                <a:spcPct val="0"/>
              </a:spcBef>
              <a:buFont typeface="Arial"/>
              <a:buChar char="•"/>
            </a:pPr>
            <a:r>
              <a:rPr lang="en-US" sz="1180" u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Hindi-first evidence report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3886640" y="1541652"/>
            <a:ext cx="1139352" cy="460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18"/>
              </a:lnSpc>
              <a:spcBef>
                <a:spcPct val="0"/>
              </a:spcBef>
            </a:pPr>
            <a:r>
              <a:rPr lang="en-US" sz="2655" b="1">
                <a:solidFill>
                  <a:srgbClr val="00CD91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471508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3226270" y="3988432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0" y="0"/>
                </a:moveTo>
                <a:lnTo>
                  <a:pt x="238125" y="0"/>
                </a:lnTo>
                <a:lnTo>
                  <a:pt x="238125" y="238125"/>
                </a:lnTo>
                <a:lnTo>
                  <a:pt x="0" y="2381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07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2950" y="434188"/>
            <a:ext cx="6395561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PROGRESS MADE</a:t>
            </a:r>
          </a:p>
        </p:txBody>
      </p:sp>
      <p:sp>
        <p:nvSpPr>
          <p:cNvPr id="11" name="Freeform 11"/>
          <p:cNvSpPr/>
          <p:nvPr/>
        </p:nvSpPr>
        <p:spPr>
          <a:xfrm>
            <a:off x="690149" y="1471508"/>
            <a:ext cx="16907702" cy="7981617"/>
          </a:xfrm>
          <a:custGeom>
            <a:avLst/>
            <a:gdLst/>
            <a:ahLst/>
            <a:cxnLst/>
            <a:rect l="l" t="t" r="r" b="b"/>
            <a:pathLst>
              <a:path w="16907702" h="7981617">
                <a:moveTo>
                  <a:pt x="0" y="0"/>
                </a:moveTo>
                <a:lnTo>
                  <a:pt x="16907702" y="0"/>
                </a:lnTo>
                <a:lnTo>
                  <a:pt x="16907702" y="7981616"/>
                </a:lnTo>
                <a:lnTo>
                  <a:pt x="0" y="79816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4518" b="-6529"/>
            </a:stretch>
          </a:blipFill>
        </p:spPr>
      </p:sp>
      <p:sp>
        <p:nvSpPr>
          <p:cNvPr id="12" name="TextBox 11"/>
          <p:cNvSpPr txBox="1"/>
          <p:nvPr/>
        </p:nvSpPr>
        <p:spPr>
          <a:xfrm>
            <a:off x="777240" y="1371600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675D5"/>
                </a:solidFill>
                <a:latin typeface="Rajdhani Bold"/>
              </a:rPr>
              <a:t>DELIVERED SINCE ROUND 1 — WORKING SYSTEM, NOT A CONCEPT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1847088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87552" y="2103120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1328" y="1938528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Backend platform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FastAPI + PostgreSQL: uploads, async jobs, verdicts, auth, audit 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752344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008376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2843784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Multimodal AI pipeline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image, video &amp; audio detector services running in parallel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657600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87552" y="3913632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749039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Weighted Risk Engine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signal fusion → Trust Score 0–100 with three-tier verdict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562856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" y="4818888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654296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Explainable reports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Gemini-written evidence summaries, Hindi-first templates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468112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552" y="5724144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5559552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Threat intelligence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VirusTotal, Safe Browsing &amp; PhishTank adapters + TTL cache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6373368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6629400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1328" y="6464808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Engineering quality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27 unit + property-based tests passing; JWT roles &amp; rate limits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7278624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7552" y="7534656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7370064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Deployment stack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full stack Dockerised: API • database • object storage • Nginx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8183880"/>
            <a:ext cx="10332720" cy="822960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2" y="8439912"/>
            <a:ext cx="310896" cy="310896"/>
          </a:xfrm>
          <a:prstGeom prst="ellipse">
            <a:avLst/>
          </a:prstGeom>
          <a:solidFill>
            <a:srgbClr val="12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8275320"/>
            <a:ext cx="94640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111111"/>
                </a:solidFill>
                <a:latin typeface="Proxima Nova Bold"/>
              </a:rPr>
              <a:t>Citizen PWA — </a:t>
            </a:r>
            <a:r>
              <a:rPr sz="1200" b="0" i="0">
                <a:solidFill>
                  <a:srgbClr val="444444"/>
                </a:solidFill>
                <a:latin typeface="Proxima Nova"/>
              </a:rPr>
              <a:t>drag-&amp;-drop upload → animated Trust Score dashboard (EN / हिंदी)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475720" y="1371600"/>
            <a:ext cx="6035040" cy="7699248"/>
          </a:xfrm>
          <a:prstGeom prst="roundRect">
            <a:avLst>
              <a:gd name="adj" fmla="val 12000"/>
            </a:avLst>
          </a:prstGeom>
          <a:solidFill>
            <a:srgbClr val="FCFDFF"/>
          </a:solidFill>
          <a:ln w="12700">
            <a:solidFill>
              <a:srgbClr val="B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795760" y="1627632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b="1" i="0">
                <a:solidFill>
                  <a:srgbClr val="111111"/>
                </a:solidFill>
                <a:latin typeface="Arimo Bold"/>
              </a:rPr>
              <a:t>LIVE DEMO — WORKING END-TO-END</a:t>
            </a:r>
          </a:p>
        </p:txBody>
      </p:sp>
      <p:sp>
        <p:nvSpPr>
          <p:cNvPr id="39" name="Oval 38"/>
          <p:cNvSpPr/>
          <p:nvPr/>
        </p:nvSpPr>
        <p:spPr>
          <a:xfrm>
            <a:off x="11795760" y="2212848"/>
            <a:ext cx="292608" cy="292608"/>
          </a:xfrm>
          <a:prstGeom prst="ellipse">
            <a:avLst/>
          </a:prstGeom>
          <a:solidFill>
            <a:srgbClr val="167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mo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234672" y="2185416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Proxima Nova"/>
              </a:rPr>
              <a:t>Upload any image / video / audio or paste a link</a:t>
            </a:r>
          </a:p>
        </p:txBody>
      </p:sp>
      <p:sp>
        <p:nvSpPr>
          <p:cNvPr id="41" name="Oval 40"/>
          <p:cNvSpPr/>
          <p:nvPr/>
        </p:nvSpPr>
        <p:spPr>
          <a:xfrm>
            <a:off x="11795760" y="2999232"/>
            <a:ext cx="292608" cy="292608"/>
          </a:xfrm>
          <a:prstGeom prst="ellipse">
            <a:avLst/>
          </a:prstGeom>
          <a:solidFill>
            <a:srgbClr val="167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mo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234672" y="2971800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Proxima Nova"/>
              </a:rPr>
              <a:t>AI services analyse it in parallel (demo mode needs zero API keys)</a:t>
            </a:r>
          </a:p>
        </p:txBody>
      </p:sp>
      <p:sp>
        <p:nvSpPr>
          <p:cNvPr id="43" name="Oval 42"/>
          <p:cNvSpPr/>
          <p:nvPr/>
        </p:nvSpPr>
        <p:spPr>
          <a:xfrm>
            <a:off x="11795760" y="3785615"/>
            <a:ext cx="292608" cy="292608"/>
          </a:xfrm>
          <a:prstGeom prst="ellipse">
            <a:avLst/>
          </a:prstGeom>
          <a:solidFill>
            <a:srgbClr val="1675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mo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234672" y="3758183"/>
            <a:ext cx="50749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 i="0">
                <a:solidFill>
                  <a:srgbClr val="444444"/>
                </a:solidFill>
                <a:latin typeface="Proxima Nova"/>
              </a:rPr>
              <a:t>Trust Score gauge + Hindi evidence report in under 30 seconds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1795760" y="4754880"/>
            <a:ext cx="5394960" cy="3246120"/>
          </a:xfrm>
          <a:prstGeom prst="roundRect">
            <a:avLst>
              <a:gd name="adj" fmla="val 6000"/>
            </a:avLst>
          </a:prstGeom>
          <a:solidFill>
            <a:srgbClr val="F2F6FB"/>
          </a:solidFill>
          <a:ln w="12700">
            <a:solidFill>
              <a:srgbClr val="A9C6E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0" i="1">
                <a:solidFill>
                  <a:srgbClr val="777777"/>
                </a:solidFill>
                <a:latin typeface="Proxima Nova Italics"/>
              </a:rPr>
              <a:t>[  App screenshots — drop UI captures here 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1650234"/>
            <a:ext cx="16801395" cy="6986532"/>
            <a:chOff x="0" y="0"/>
            <a:chExt cx="22401860" cy="931537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401912" cy="9315321"/>
            </a:xfrm>
            <a:custGeom>
              <a:avLst/>
              <a:gdLst/>
              <a:ahLst/>
              <a:cxnLst/>
              <a:rect l="l" t="t" r="r" b="b"/>
              <a:pathLst>
                <a:path w="22401912" h="9315321">
                  <a:moveTo>
                    <a:pt x="0" y="0"/>
                  </a:moveTo>
                  <a:lnTo>
                    <a:pt x="22401912" y="0"/>
                  </a:lnTo>
                  <a:lnTo>
                    <a:pt x="22401912" y="9315321"/>
                  </a:lnTo>
                  <a:lnTo>
                    <a:pt x="0" y="93153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4916" b="-2042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08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11402854" cy="739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CHALLENGES FACED &amp; ROAD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37160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E02B2B"/>
                </a:solidFill>
                <a:latin typeface="Rajdhani Bold"/>
              </a:rPr>
              <a:t>CHALLENGES FACED — AND HOW WE SOLVED THEM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74519"/>
            <a:ext cx="8138160" cy="1572768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" y="2093976"/>
            <a:ext cx="329184" cy="329184"/>
          </a:xfrm>
          <a:prstGeom prst="ellipse">
            <a:avLst/>
          </a:prstGeom>
          <a:solidFill>
            <a:srgbClr val="E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039112"/>
            <a:ext cx="7178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11111"/>
                </a:solidFill>
                <a:latin typeface="Proxima Nova Bold"/>
              </a:rPr>
              <a:t>GPU-heavy deepfake models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Fix → Demo-mode engine ships now; HuggingFace Spaces (16 GB RAM free) path ready for real inference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593591"/>
            <a:ext cx="8138160" cy="1572768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3813048"/>
            <a:ext cx="329184" cy="329184"/>
          </a:xfrm>
          <a:prstGeom prst="ellipse">
            <a:avLst/>
          </a:prstGeom>
          <a:solidFill>
            <a:srgbClr val="E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6192" y="3758183"/>
            <a:ext cx="7178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11111"/>
                </a:solidFill>
                <a:latin typeface="Proxima Nova Bold"/>
              </a:rPr>
              <a:t>Free-tier API rate limits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Fix → Threat-intel cache with TTL + SHA-256 dedup eliminates repeat calls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5312664"/>
            <a:ext cx="8138160" cy="1572768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05840" y="5532120"/>
            <a:ext cx="329184" cy="329184"/>
          </a:xfrm>
          <a:prstGeom prst="ellipse">
            <a:avLst/>
          </a:prstGeom>
          <a:solidFill>
            <a:srgbClr val="E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5477255"/>
            <a:ext cx="7178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11111"/>
                </a:solidFill>
                <a:latin typeface="Proxima Nova Bold"/>
              </a:rPr>
              <a:t>Fair multimodal signal fusion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Fix → Re-normalising weights over available signals — no single failure blocks a verdict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7031736"/>
            <a:ext cx="8138160" cy="1572768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7251192"/>
            <a:ext cx="329184" cy="329184"/>
          </a:xfrm>
          <a:prstGeom prst="ellipse">
            <a:avLst/>
          </a:prstGeom>
          <a:solidFill>
            <a:srgbClr val="E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m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7196327"/>
            <a:ext cx="71780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 i="0">
                <a:solidFill>
                  <a:srgbClr val="111111"/>
                </a:solidFill>
                <a:latin typeface="Proxima Nova Bold"/>
              </a:rPr>
              <a:t>Hindi-first explainability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Fix → Bilingual prompt templates; every claim cites extracted artifacts, not a black-box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137160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600" b="1" i="0">
                <a:solidFill>
                  <a:srgbClr val="1675D5"/>
                </a:solidFill>
                <a:latin typeface="Rajdhani Bold"/>
              </a:rPr>
              <a:t>ROAD AHEAD — FROM PILOT TO PLATFORM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81160" y="1874519"/>
            <a:ext cx="8229600" cy="2084831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509760" y="2075688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7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675D5"/>
                </a:solidFill>
                <a:latin typeface="Rajdhani Bold"/>
              </a:rPr>
              <a:t>NEXT 30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624327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11111"/>
                </a:solidFill>
                <a:latin typeface="Proxima Nova Bold"/>
              </a:rPr>
              <a:t>PUBLIC PILOT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Deploy free stack (Vercel + Render + Neon) • OCR scam-message classifier • I4C / 1930 reporting 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81160" y="4105656"/>
            <a:ext cx="8229600" cy="2084831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509760" y="4306824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7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675D5"/>
                </a:solidFill>
                <a:latin typeface="Rajdhani Bold"/>
              </a:rPr>
              <a:t>3 MONTHS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4855464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11111"/>
                </a:solidFill>
                <a:latin typeface="Proxima Nova Bold"/>
              </a:rPr>
              <a:t>REACH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Browser extension &amp; WhatsApp bot intake • admin dashboard • journalist verification workspace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81160" y="6336792"/>
            <a:ext cx="8229600" cy="2084831"/>
          </a:xfrm>
          <a:prstGeom prst="roundRect">
            <a:avLst>
              <a:gd name="adj" fmla="val 12000"/>
            </a:avLst>
          </a:prstGeom>
          <a:solidFill>
            <a:srgbClr val="F5F9FE"/>
          </a:solidFill>
          <a:ln w="12700">
            <a:solidFill>
              <a:srgbClr val="DCE9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09760" y="6537959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E7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1675D5"/>
                </a:solidFill>
                <a:latin typeface="Rajdhani Bold"/>
              </a:rPr>
              <a:t>6–12 MONTHS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7086600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 i="0">
                <a:solidFill>
                  <a:srgbClr val="111111"/>
                </a:solidFill>
                <a:latin typeface="Proxima Nova Bold"/>
              </a:rPr>
              <a:t>SCALE</a:t>
            </a:r>
          </a:p>
          <a:p>
            <a:pPr>
              <a:spcBef>
                <a:spcPts val="400"/>
              </a:spcBef>
            </a:pPr>
            <a:r>
              <a:rPr sz="1150" b="0" i="0">
                <a:solidFill>
                  <a:srgbClr val="444444"/>
                </a:solidFill>
                <a:latin typeface="Proxima Nova"/>
              </a:rPr>
              <a:t>Regional Indian languages • real-time video verification • government &amp; fact-check partnerships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8613648"/>
            <a:ext cx="16733520" cy="56692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Rajdhani Bold"/>
              </a:rPr>
              <a:t>EXPECTED IMPACT —  Faster public verification  •  fewer deepfake-fraud losses  •  supports MeitY / Digital India trust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42950" y="1478756"/>
            <a:ext cx="16801395" cy="7981617"/>
            <a:chOff x="0" y="0"/>
            <a:chExt cx="22401860" cy="10642156"/>
          </a:xfrm>
        </p:grpSpPr>
        <p:sp>
          <p:nvSpPr>
            <p:cNvPr id="3" name="Freeform 3" descr="image.png"/>
            <p:cNvSpPr/>
            <p:nvPr/>
          </p:nvSpPr>
          <p:spPr>
            <a:xfrm>
              <a:off x="0" y="0"/>
              <a:ext cx="22401912" cy="10642092"/>
            </a:xfrm>
            <a:custGeom>
              <a:avLst/>
              <a:gdLst/>
              <a:ahLst/>
              <a:cxnLst/>
              <a:rect l="l" t="t" r="r" b="b"/>
              <a:pathLst>
                <a:path w="22401912" h="10642092">
                  <a:moveTo>
                    <a:pt x="0" y="0"/>
                  </a:moveTo>
                  <a:lnTo>
                    <a:pt x="22401912" y="0"/>
                  </a:lnTo>
                  <a:lnTo>
                    <a:pt x="22401912" y="10642092"/>
                  </a:lnTo>
                  <a:lnTo>
                    <a:pt x="0" y="10642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45370" b="-4532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679447" y="1208084"/>
            <a:ext cx="16929097" cy="155572"/>
            <a:chOff x="0" y="0"/>
            <a:chExt cx="16929100" cy="155575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0"/>
                  </a:moveTo>
                  <a:lnTo>
                    <a:pt x="16802100" y="0"/>
                  </a:lnTo>
                  <a:lnTo>
                    <a:pt x="16802100" y="28575"/>
                  </a:lnTo>
                  <a:lnTo>
                    <a:pt x="0" y="28575"/>
                  </a:lnTo>
                  <a:close/>
                </a:path>
              </a:pathLst>
            </a:custGeom>
            <a:solidFill>
              <a:srgbClr val="EAEAEA"/>
            </a:solidFill>
          </p:spPr>
        </p:sp>
        <p:sp>
          <p:nvSpPr>
            <p:cNvPr id="6" name="Freeform 6"/>
            <p:cNvSpPr/>
            <p:nvPr/>
          </p:nvSpPr>
          <p:spPr>
            <a:xfrm>
              <a:off x="63500" y="63500"/>
              <a:ext cx="16802100" cy="28575"/>
            </a:xfrm>
            <a:custGeom>
              <a:avLst/>
              <a:gdLst/>
              <a:ahLst/>
              <a:cxnLst/>
              <a:rect l="l" t="t" r="r" b="b"/>
              <a:pathLst>
                <a:path w="16802100" h="28575">
                  <a:moveTo>
                    <a:pt x="0" y="28575"/>
                  </a:moveTo>
                  <a:lnTo>
                    <a:pt x="16802100" y="28575"/>
                  </a:lnTo>
                  <a:lnTo>
                    <a:pt x="168021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845191" y="9522876"/>
            <a:ext cx="4158263" cy="366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3"/>
              </a:lnSpc>
            </a:pPr>
            <a:r>
              <a:rPr lang="en-US" sz="2124">
                <a:solidFill>
                  <a:srgbClr val="333333"/>
                </a:solidFill>
                <a:latin typeface="Rajdhani"/>
                <a:ea typeface="Rajdhani"/>
                <a:cs typeface="Rajdhani"/>
                <a:sym typeface="Rajdhani"/>
              </a:rPr>
              <a:t>ONE MISSION. BUILD THE </a:t>
            </a:r>
            <a:r>
              <a:rPr lang="en-US" sz="2124">
                <a:solidFill>
                  <a:srgbClr val="FF0000"/>
                </a:solidFill>
                <a:latin typeface="Rajdhani"/>
                <a:ea typeface="Rajdhani"/>
                <a:cs typeface="Rajdhani"/>
                <a:sym typeface="Rajdhani"/>
              </a:rPr>
              <a:t>IMPOSSIBLE.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22367" y="699992"/>
            <a:ext cx="1122402" cy="475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8"/>
              </a:lnSpc>
            </a:pPr>
            <a:r>
              <a:rPr lang="en-US" sz="2649" b="1">
                <a:solidFill>
                  <a:srgbClr val="FF0000"/>
                </a:solidFill>
                <a:latin typeface="Arimo Bold"/>
                <a:ea typeface="Arimo Bold"/>
                <a:cs typeface="Arimo Bold"/>
                <a:sym typeface="Arimo Bold"/>
              </a:rPr>
              <a:t>09 </a:t>
            </a:r>
            <a:r>
              <a:rPr lang="en-US" sz="2649" b="1">
                <a:solidFill>
                  <a:srgbClr val="888888"/>
                </a:solidFill>
                <a:latin typeface="Arimo Bold"/>
                <a:ea typeface="Arimo Bold"/>
                <a:cs typeface="Arimo Bold"/>
                <a:sym typeface="Arimo Bold"/>
              </a:rPr>
              <a:t>// 09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434188"/>
            <a:ext cx="8338928" cy="73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84"/>
              </a:lnSpc>
            </a:pPr>
            <a:r>
              <a:rPr lang="en-US" sz="4275">
                <a:solidFill>
                  <a:srgbClr val="111111"/>
                </a:solidFill>
                <a:latin typeface="Arimo"/>
                <a:ea typeface="Arimo"/>
                <a:cs typeface="Arimo"/>
                <a:sym typeface="Arimo"/>
              </a:rPr>
              <a:t>RESEARCH AND REFERENCES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1764517"/>
            <a:ext cx="8553079" cy="3824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4"/>
              </a:lnSpc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Datasets</a:t>
            </a:r>
          </a:p>
          <a:p>
            <a:pPr marL="564485" lvl="1" indent="-282243" algn="l">
              <a:lnSpc>
                <a:spcPts val="3116"/>
              </a:lnSpc>
              <a:buAutoNum type="arabicPeriod"/>
            </a:pPr>
            <a:r>
              <a:rPr lang="en-US" sz="26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FaceForensics -</a:t>
            </a:r>
            <a:r>
              <a:rPr lang="en-US" sz="26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3" tooltip="https://github.com/ondyari/FaceForensics?utm_source=chatgpt.com"/>
              </a:rPr>
              <a:t>https://github.com/ondyari/FaceForensics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DeepFake Detection Challenge (DFDC) -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4" tooltip="https://ai.meta.com/datasets/dfdc?utm_source=chatgpt.com"/>
              </a:rPr>
              <a:t>https://ai.meta.com/datasets/dfdc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Celeb-DF v2 -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5" tooltip="https://cse.buffalo.edu/~siweilyu/celeb-deepfakeforensics.html?utm_source=chatgpt.com"/>
              </a:rPr>
              <a:t>https://cse.buffalo.edu/~siweilyu/celeb-deepfakeforensics.html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ASVspoof 2019 -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6" tooltip="https://www.asvspoof.org"/>
              </a:rPr>
              <a:t>https://www.asvspoof.org</a:t>
            </a:r>
          </a:p>
          <a:p>
            <a:pPr algn="l">
              <a:lnSpc>
                <a:spcPts val="3354"/>
              </a:lnSpc>
            </a:pPr>
            <a:endParaRPr lang="en-US" sz="2814" b="1" u="sng">
              <a:solidFill>
                <a:srgbClr val="004AAD"/>
              </a:solidFill>
              <a:latin typeface="Rajdhani Bold"/>
              <a:ea typeface="Rajdhani Bold"/>
              <a:cs typeface="Rajdhani Bold"/>
              <a:sym typeface="Rajdhani Bold"/>
              <a:hlinkClick r:id="rId6" tooltip="https://www.asvspoof.org"/>
            </a:endParaRPr>
          </a:p>
          <a:p>
            <a:pPr algn="l">
              <a:lnSpc>
                <a:spcPts val="375"/>
              </a:lnSpc>
            </a:pPr>
            <a:endParaRPr lang="en-US" sz="2814" b="1" u="sng">
              <a:solidFill>
                <a:srgbClr val="004AAD"/>
              </a:solidFill>
              <a:latin typeface="Rajdhani Bold"/>
              <a:ea typeface="Rajdhani Bold"/>
              <a:cs typeface="Rajdhani Bold"/>
              <a:sym typeface="Rajdhani Bold"/>
              <a:hlinkClick r:id="rId6" tooltip="https://www.asvspoof.org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75458" y="1478756"/>
            <a:ext cx="7583842" cy="5545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4"/>
              </a:lnSpc>
            </a:pPr>
            <a:endParaRPr/>
          </a:p>
          <a:p>
            <a:pPr algn="l">
              <a:lnSpc>
                <a:spcPts val="3354"/>
              </a:lnSpc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Threat Intelligence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PhishTank -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7" tooltip="https://phishtank.org"/>
              </a:rPr>
              <a:t>https://phishtank.org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Google Safe Browsing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8" tooltip="https://safebrowsing.google.com"/>
              </a:rPr>
              <a:t>https://safebrowsing.google.com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VirusTotal - </a:t>
            </a: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9" tooltip="https://www.virustotal.com"/>
              </a:rPr>
              <a:t>https://www.virustotal.com</a:t>
            </a:r>
          </a:p>
          <a:p>
            <a:pPr algn="l">
              <a:lnSpc>
                <a:spcPts val="3354"/>
              </a:lnSpc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AI &amp; Research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Gemini API Documentation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10" tooltip="https://ai.google.dev"/>
              </a:rPr>
              <a:t>https://ai.google.dev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EasyOCR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11" tooltip="https://github.com/JaidedAI/EasyOCR"/>
              </a:rPr>
              <a:t>https://github.com/JaidedAI/EasyOCR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</a:rPr>
              <a:t>OpenCV</a:t>
            </a:r>
          </a:p>
          <a:p>
            <a:pPr marL="607664" lvl="1" indent="-303832" algn="l">
              <a:lnSpc>
                <a:spcPts val="3354"/>
              </a:lnSpc>
              <a:buAutoNum type="arabicPeriod"/>
            </a:pPr>
            <a:r>
              <a:rPr lang="en-US" sz="2814" b="1" u="sng">
                <a:solidFill>
                  <a:srgbClr val="004AAD"/>
                </a:solidFill>
                <a:latin typeface="Rajdhani Bold"/>
                <a:ea typeface="Rajdhani Bold"/>
                <a:cs typeface="Rajdhani Bold"/>
                <a:sym typeface="Rajdhani Bold"/>
                <a:hlinkClick r:id="rId12" tooltip="https://opencv.org"/>
              </a:rPr>
              <a:t>https://opencv.org</a:t>
            </a:r>
          </a:p>
          <a:p>
            <a:pPr algn="l">
              <a:lnSpc>
                <a:spcPts val="375"/>
              </a:lnSpc>
            </a:pPr>
            <a:endParaRPr lang="en-US" sz="2814" b="1" u="sng">
              <a:solidFill>
                <a:srgbClr val="004AAD"/>
              </a:solidFill>
              <a:latin typeface="Rajdhani Bold"/>
              <a:ea typeface="Rajdhani Bold"/>
              <a:cs typeface="Rajdhani Bold"/>
              <a:sym typeface="Rajdhani Bold"/>
              <a:hlinkClick r:id="rId12" tooltip="https://opencv.org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1224</Words>
  <Application>Microsoft Office PowerPoint</Application>
  <PresentationFormat>Custom</PresentationFormat>
  <Paragraphs>249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4" baseType="lpstr">
      <vt:lpstr>Proxima Nova Italics</vt:lpstr>
      <vt:lpstr>Calibri</vt:lpstr>
      <vt:lpstr>Rajdhani</vt:lpstr>
      <vt:lpstr>Rajdhani Bold</vt:lpstr>
      <vt:lpstr>Proxima Nova Bold</vt:lpstr>
      <vt:lpstr>Calibri (MS) Bold</vt:lpstr>
      <vt:lpstr>Arial</vt:lpstr>
      <vt:lpstr>Inter Bold</vt:lpstr>
      <vt:lpstr>TT Fors Bold</vt:lpstr>
      <vt:lpstr>Proxima Nova</vt:lpstr>
      <vt:lpstr>Inter</vt:lpstr>
      <vt:lpstr>Arimo Bold</vt:lpstr>
      <vt:lpstr>Poppins</vt:lpstr>
      <vt:lpstr>Arimo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Omni_Hackathon_Codeators.pptx</dc:title>
  <cp:lastModifiedBy>Prince Sherathiya</cp:lastModifiedBy>
  <cp:revision>2</cp:revision>
  <dcterms:created xsi:type="dcterms:W3CDTF">2006-08-16T00:00:00Z</dcterms:created>
  <dcterms:modified xsi:type="dcterms:W3CDTF">2026-08-26T09:11:01Z</dcterms:modified>
  <dc:identifier>DAHRxIGHuw0</dc:identifier>
</cp:coreProperties>
</file>